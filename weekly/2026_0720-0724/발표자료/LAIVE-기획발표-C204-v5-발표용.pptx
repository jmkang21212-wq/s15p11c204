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7"/>
  </p:notesMasterIdLst>
  <p:sldIdLst>
    <p:sldId id="323" r:id="rId2"/>
    <p:sldId id="257" r:id="rId3"/>
    <p:sldId id="327" r:id="rId4"/>
    <p:sldId id="258" r:id="rId5"/>
    <p:sldId id="272" r:id="rId6"/>
    <p:sldId id="273" r:id="rId7"/>
    <p:sldId id="274" r:id="rId8"/>
    <p:sldId id="311" r:id="rId9"/>
    <p:sldId id="317" r:id="rId10"/>
    <p:sldId id="275" r:id="rId11"/>
    <p:sldId id="318" r:id="rId12"/>
    <p:sldId id="325" r:id="rId13"/>
    <p:sldId id="319" r:id="rId14"/>
    <p:sldId id="328" r:id="rId15"/>
    <p:sldId id="279" r:id="rId16"/>
    <p:sldId id="336" r:id="rId17"/>
    <p:sldId id="337" r:id="rId18"/>
    <p:sldId id="338" r:id="rId19"/>
    <p:sldId id="339" r:id="rId20"/>
    <p:sldId id="286" r:id="rId21"/>
    <p:sldId id="282" r:id="rId22"/>
    <p:sldId id="299" r:id="rId23"/>
    <p:sldId id="340" r:id="rId24"/>
    <p:sldId id="341" r:id="rId25"/>
    <p:sldId id="342" r:id="rId26"/>
    <p:sldId id="304" r:id="rId27"/>
    <p:sldId id="285" r:id="rId28"/>
    <p:sldId id="321" r:id="rId29"/>
    <p:sldId id="287" r:id="rId30"/>
    <p:sldId id="329" r:id="rId31"/>
    <p:sldId id="334" r:id="rId32"/>
    <p:sldId id="330" r:id="rId33"/>
    <p:sldId id="289" r:id="rId34"/>
    <p:sldId id="331" r:id="rId35"/>
    <p:sldId id="310" r:id="rId36"/>
    <p:sldId id="308" r:id="rId37"/>
    <p:sldId id="290" r:id="rId38"/>
    <p:sldId id="320" r:id="rId39"/>
    <p:sldId id="333" r:id="rId40"/>
    <p:sldId id="291" r:id="rId41"/>
    <p:sldId id="292" r:id="rId42"/>
    <p:sldId id="314" r:id="rId43"/>
    <p:sldId id="315" r:id="rId44"/>
    <p:sldId id="316" r:id="rId45"/>
    <p:sldId id="293" r:id="rId46"/>
  </p:sldIdLst>
  <p:sldSz cx="24384000" cy="13716000"/>
  <p:notesSz cx="6858000" cy="9144000"/>
  <p:embeddedFontLst>
    <p:embeddedFont>
      <p:font typeface="Pretendard Bold" panose="020B0600000101010101" charset="-127"/>
      <p:bold r:id="rId48"/>
    </p:embeddedFont>
    <p:embeddedFont>
      <p:font typeface="Pretendard ExtraBold" panose="020B0600000101010101" charset="-127"/>
      <p:bold r:id="rId49"/>
    </p:embeddedFont>
    <p:embeddedFont>
      <p:font typeface="Pretendard Medium" panose="020B0600000101010101" charset="-127"/>
      <p:bold r:id="rId50"/>
    </p:embeddedFont>
    <p:embeddedFont>
      <p:font typeface="Pretendard Regular" panose="020B0600000101010101" charset="-127"/>
      <p:regular r:id="rId51"/>
    </p:embeddedFont>
    <p:embeddedFont>
      <p:font typeface="Pretendard SemiBold" panose="020B0600000101010101" charset="-127"/>
      <p:bold r:id="rId52"/>
    </p:embeddedFont>
    <p:embeddedFont>
      <p:font typeface="맑은 고딕" panose="020B0503020000020004" pitchFamily="50" charset="-127"/>
      <p:regular r:id="rId53"/>
      <p:bold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6FE"/>
    <a:srgbClr val="D5E1EF"/>
    <a:srgbClr val="3E68FF"/>
    <a:srgbClr val="001D67"/>
    <a:srgbClr val="2E5BFF"/>
    <a:srgbClr val="BD03B0"/>
    <a:srgbClr val="E1F1FF"/>
    <a:srgbClr val="EFF7FF"/>
    <a:srgbClr val="FFFFFF"/>
    <a:srgbClr val="77C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211" autoAdjust="0"/>
  </p:normalViewPr>
  <p:slideViewPr>
    <p:cSldViewPr>
      <p:cViewPr varScale="1">
        <p:scale>
          <a:sx n="31" d="100"/>
          <a:sy n="31" d="100"/>
        </p:scale>
        <p:origin x="66" y="20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841C1-9919-4990-9C47-9F75A99B38E8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3FEBD2-E2DC-4DEF-9BCE-94C27181F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514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lnSpc>
                <a:spcPct val="120000"/>
              </a:lnSpc>
            </a:pPr>
            <a:r>
              <a:rPr lang="ko-KR" altLang="en-US" sz="1200" b="1" dirty="0" err="1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rPr>
              <a:t>스트리머의</a:t>
            </a:r>
            <a:r>
              <a:rPr lang="ko-KR" altLang="en-US" sz="12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rPr>
              <a:t> 방송</a:t>
            </a:r>
            <a:r>
              <a:rPr lang="en-US" altLang="ko-KR" sz="12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rPr>
              <a:t>, </a:t>
            </a:r>
          </a:p>
          <a:p>
            <a:pPr algn="ctr">
              <a:lnSpc>
                <a:spcPct val="120000"/>
              </a:lnSpc>
            </a:pPr>
            <a:r>
              <a:rPr lang="ko-KR" altLang="en-US" sz="12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rPr>
              <a:t>그 기저엔 많은 어려움이 존재합니다</a:t>
            </a:r>
            <a:r>
              <a:rPr lang="en-US" altLang="ko-KR" sz="12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rPr>
              <a:t>.</a:t>
            </a:r>
            <a:endParaRPr lang="ko-KR" altLang="en-US" sz="1200" b="1" dirty="0">
              <a:solidFill>
                <a:srgbClr val="001D67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3FEBD2-E2DC-4DEF-9BCE-94C27181FB1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925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lnSpc>
                <a:spcPct val="120000"/>
              </a:lnSpc>
            </a:pPr>
            <a:r>
              <a:rPr lang="ko-KR" altLang="en-US" sz="1200" b="1" dirty="0" err="1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rPr>
              <a:t>스트리머의</a:t>
            </a:r>
            <a:r>
              <a:rPr lang="ko-KR" altLang="en-US" sz="12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rPr>
              <a:t> 방송</a:t>
            </a:r>
            <a:r>
              <a:rPr lang="en-US" altLang="ko-KR" sz="12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rPr>
              <a:t>, </a:t>
            </a:r>
          </a:p>
          <a:p>
            <a:pPr algn="ctr">
              <a:lnSpc>
                <a:spcPct val="120000"/>
              </a:lnSpc>
            </a:pPr>
            <a:r>
              <a:rPr lang="ko-KR" altLang="en-US" sz="12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rPr>
              <a:t>그 기저엔 많은 어려움이 존재합니다</a:t>
            </a:r>
            <a:r>
              <a:rPr lang="en-US" altLang="ko-KR" sz="12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rPr>
              <a:t>.</a:t>
            </a:r>
            <a:endParaRPr lang="ko-KR" altLang="en-US" sz="1200" b="1" dirty="0">
              <a:solidFill>
                <a:srgbClr val="001D67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3FEBD2-E2DC-4DEF-9BCE-94C27181FB1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221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en-US" altLang="ko-KR" sz="12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차별성</a:t>
            </a:r>
            <a:r>
              <a:rPr lang="en-US" altLang="ko-KR" sz="12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– </a:t>
            </a:r>
            <a:r>
              <a:rPr lang="en-US" altLang="ko-KR" sz="12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플랫폼</a:t>
            </a:r>
            <a:r>
              <a:rPr lang="en-US" altLang="ko-KR" sz="12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12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AI는</a:t>
            </a:r>
            <a:r>
              <a:rPr lang="en-US" altLang="ko-KR" sz="12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'</a:t>
            </a:r>
            <a:r>
              <a:rPr lang="en-US" altLang="ko-KR" sz="12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운영'을</a:t>
            </a:r>
            <a:r>
              <a:rPr lang="en-US" altLang="ko-KR" sz="12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, </a:t>
            </a:r>
            <a:r>
              <a:rPr lang="en-US" altLang="ko-KR" sz="12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LAIVE는</a:t>
            </a:r>
            <a:r>
              <a:rPr lang="en-US" altLang="ko-KR" sz="12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'</a:t>
            </a:r>
            <a:r>
              <a:rPr lang="en-US" altLang="ko-KR" sz="12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성장</a:t>
            </a:r>
            <a:r>
              <a:rPr lang="en-US" altLang="ko-KR" sz="12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’ </a:t>
            </a:r>
            <a:r>
              <a:rPr lang="ko-KR" altLang="en-US" sz="12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전반</a:t>
            </a:r>
            <a:r>
              <a:rPr lang="en-US" altLang="ko-KR" sz="12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을 </a:t>
            </a:r>
            <a:r>
              <a:rPr lang="en-US" altLang="ko-KR" sz="12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관리합니다</a:t>
            </a:r>
            <a:endParaRPr lang="en-US" altLang="ko-KR" sz="12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3FEBD2-E2DC-4DEF-9BCE-94C27181FB1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710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en-US" altLang="ko-KR" sz="12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차별성</a:t>
            </a:r>
            <a:r>
              <a:rPr lang="en-US" altLang="ko-KR" sz="12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– </a:t>
            </a:r>
            <a:r>
              <a:rPr lang="en-US" altLang="ko-KR" sz="12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플랫폼</a:t>
            </a:r>
            <a:r>
              <a:rPr lang="en-US" altLang="ko-KR" sz="12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12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AI는</a:t>
            </a:r>
            <a:r>
              <a:rPr lang="en-US" altLang="ko-KR" sz="12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'</a:t>
            </a:r>
            <a:r>
              <a:rPr lang="en-US" altLang="ko-KR" sz="12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운영'을</a:t>
            </a:r>
            <a:r>
              <a:rPr lang="en-US" altLang="ko-KR" sz="12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, </a:t>
            </a:r>
            <a:r>
              <a:rPr lang="en-US" altLang="ko-KR" sz="12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LAIVE는</a:t>
            </a:r>
            <a:r>
              <a:rPr lang="en-US" altLang="ko-KR" sz="12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'</a:t>
            </a:r>
            <a:r>
              <a:rPr lang="en-US" altLang="ko-KR" sz="12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성장</a:t>
            </a:r>
            <a:r>
              <a:rPr lang="en-US" altLang="ko-KR" sz="12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’ </a:t>
            </a:r>
            <a:r>
              <a:rPr lang="ko-KR" altLang="en-US" sz="12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전반</a:t>
            </a:r>
            <a:r>
              <a:rPr lang="en-US" altLang="ko-KR" sz="12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을 </a:t>
            </a:r>
            <a:r>
              <a:rPr lang="en-US" altLang="ko-KR" sz="12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관리합니다</a:t>
            </a:r>
            <a:endParaRPr lang="en-US" altLang="ko-KR" sz="12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3FEBD2-E2DC-4DEF-9BCE-94C27181FB1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369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0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jp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jp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3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3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0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0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21.png"/><Relationship Id="rId7" Type="http://schemas.openxmlformats.org/officeDocument/2006/relationships/image" Target="../media/image4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23.png"/><Relationship Id="rId9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2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23.png"/><Relationship Id="rId10" Type="http://schemas.openxmlformats.org/officeDocument/2006/relationships/image" Target="../media/image56.png"/><Relationship Id="rId4" Type="http://schemas.openxmlformats.org/officeDocument/2006/relationships/image" Target="../media/image22.png"/><Relationship Id="rId9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3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59.png"/><Relationship Id="rId4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2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2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jpg"/><Relationship Id="rId4" Type="http://schemas.openxmlformats.org/officeDocument/2006/relationships/image" Target="../media/image2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1900" y="-2552700"/>
            <a:ext cx="16510000" cy="16370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 rot="5400000">
            <a:off x="-2072112" y="654050"/>
            <a:ext cx="14414500" cy="1219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35000"/>
            <a:ext cx="22860000" cy="1016000"/>
          </a:xfrm>
          <a:prstGeom prst="rect">
            <a:avLst/>
          </a:prstGeom>
          <a:effectLst>
            <a:outerShdw blurRad="101600" dist="15631" dir="2700000">
              <a:srgbClr val="D6D6D6">
                <a:alpha val="20000"/>
              </a:srgbClr>
            </a:outerShdw>
          </a:effectLst>
        </p:spPr>
      </p:pic>
      <p:sp>
        <p:nvSpPr>
          <p:cNvPr id="7" name="TextBox 7"/>
          <p:cNvSpPr txBox="1"/>
          <p:nvPr/>
        </p:nvSpPr>
        <p:spPr>
          <a:xfrm>
            <a:off x="4787900" y="889000"/>
            <a:ext cx="185801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76A3EC"/>
                </a:solidFill>
                <a:latin typeface="Pretendard Medium"/>
                <a:ea typeface="Pretendard Medium"/>
                <a:cs typeface="Pretendard Medium"/>
              </a:rPr>
              <a:t>|     </a:t>
            </a:r>
            <a:r>
              <a:rPr lang="ko-KR" altLang="en-US" sz="2666" b="0" i="0" u="none" strike="noStrike" dirty="0">
                <a:solidFill>
                  <a:srgbClr val="76A3EC"/>
                </a:solidFill>
                <a:latin typeface="Pretendard Medium"/>
                <a:ea typeface="Pretendard Medium"/>
                <a:cs typeface="Pretendard Medium"/>
              </a:rPr>
              <a:t>팀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   SSAFY </a:t>
            </a:r>
            <a:r>
              <a:rPr lang="ko-KR" alt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공통 프로젝트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2666" b="0" i="0" u="none" strike="noStrike" dirty="0">
                <a:solidFill>
                  <a:srgbClr val="76A3EC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endParaRPr lang="en-US" sz="2666" b="0" i="0" u="none" strike="noStrike" dirty="0">
              <a:solidFill>
                <a:srgbClr val="FFFFFF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01800" y="863600"/>
            <a:ext cx="20320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139" b="0" i="0" u="none" strike="noStrike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LAIVE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300" y="977900"/>
            <a:ext cx="469900" cy="330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06300" y="-3175000"/>
            <a:ext cx="5930900" cy="9613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7">
            <a:alphaModFix amt="50000"/>
          </a:blip>
          <a:srcRect l="49756" t="18644"/>
          <a:stretch/>
        </p:blipFill>
        <p:spPr>
          <a:xfrm>
            <a:off x="34075" y="1631950"/>
            <a:ext cx="3917950" cy="6705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91100" y="4826000"/>
            <a:ext cx="10109200" cy="9613900"/>
          </a:xfrm>
          <a:prstGeom prst="rect">
            <a:avLst/>
          </a:prstGeom>
        </p:spPr>
      </p:pic>
      <p:sp>
        <p:nvSpPr>
          <p:cNvPr id="13" name="TextBox 6">
            <a:extLst>
              <a:ext uri="{FF2B5EF4-FFF2-40B4-BE49-F238E27FC236}">
                <a16:creationId xmlns:a16="http://schemas.microsoft.com/office/drawing/2014/main" id="{54E0FE0E-A4CD-4ED3-A5F2-D5E25F789F00}"/>
              </a:ext>
            </a:extLst>
          </p:cNvPr>
          <p:cNvSpPr txBox="1"/>
          <p:nvPr/>
        </p:nvSpPr>
        <p:spPr>
          <a:xfrm>
            <a:off x="1181100" y="7334980"/>
            <a:ext cx="16192500" cy="3886200"/>
          </a:xfrm>
          <a:prstGeom prst="rect">
            <a:avLst/>
          </a:prstGeom>
        </p:spPr>
        <p:txBody>
          <a:bodyPr lIns="0" tIns="190500" rIns="0" bIns="0" rtlCol="0" anchor="t"/>
          <a:lstStyle/>
          <a:p>
            <a:pPr lvl="0" algn="l"/>
            <a:r>
              <a:rPr lang="en-US" altLang="ko-KR" sz="7200" b="1" i="0" u="none" strike="noStrike" dirty="0">
                <a:solidFill>
                  <a:srgbClr val="001D67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  <a:r>
              <a:rPr lang="ko-KR" altLang="en-US" sz="7200" b="1" i="0" u="none" strike="noStrike" dirty="0">
                <a:solidFill>
                  <a:srgbClr val="001D67"/>
                </a:solidFill>
                <a:latin typeface="Pretendard SemiBold"/>
                <a:ea typeface="Pretendard SemiBold"/>
                <a:cs typeface="Pretendard SemiBold"/>
              </a:rPr>
              <a:t>인 </a:t>
            </a:r>
            <a:r>
              <a:rPr lang="ko-KR" altLang="en-US" sz="7200" b="1" i="0" u="none" strike="noStrike" dirty="0" err="1">
                <a:solidFill>
                  <a:srgbClr val="001D67"/>
                </a:solidFill>
                <a:latin typeface="Pretendard SemiBold"/>
                <a:ea typeface="Pretendard SemiBold"/>
                <a:cs typeface="Pretendard SemiBold"/>
              </a:rPr>
              <a:t>스트리머를</a:t>
            </a:r>
            <a:r>
              <a:rPr lang="ko-KR" altLang="en-US" sz="7200" b="1" i="0" u="none" strike="noStrike" dirty="0">
                <a:solidFill>
                  <a:srgbClr val="001D67"/>
                </a:solidFill>
                <a:latin typeface="Pretendard SemiBold"/>
                <a:ea typeface="Pretendard SemiBold"/>
                <a:cs typeface="Pretendard SemiBold"/>
              </a:rPr>
              <a:t> 돕는 똑똑한 비서 </a:t>
            </a:r>
          </a:p>
          <a:p>
            <a:pPr lvl="0" algn="l"/>
            <a:r>
              <a:rPr lang="en-US" altLang="ko-KR" sz="13200" b="1" dirty="0">
                <a:gradFill>
                  <a:gsLst>
                    <a:gs pos="0">
                      <a:srgbClr val="0135E2"/>
                    </a:gs>
                    <a:gs pos="53000">
                      <a:srgbClr val="77C2FF"/>
                    </a:gs>
                    <a:gs pos="100000">
                      <a:srgbClr val="001D67"/>
                    </a:gs>
                  </a:gsLst>
                  <a:lin ang="10800000" scaled="0"/>
                </a:gradFill>
                <a:latin typeface="Pretendard SemiBold"/>
                <a:ea typeface="Pretendard SemiBold"/>
                <a:cs typeface="Pretendard SemiBold"/>
              </a:rPr>
              <a:t>LAIVE : AI</a:t>
            </a:r>
            <a:r>
              <a:rPr lang="ko-KR" altLang="en-US" sz="13200" b="1" dirty="0">
                <a:gradFill>
                  <a:gsLst>
                    <a:gs pos="0">
                      <a:srgbClr val="0135E2"/>
                    </a:gs>
                    <a:gs pos="53000">
                      <a:srgbClr val="77C2FF"/>
                    </a:gs>
                    <a:gs pos="100000">
                      <a:srgbClr val="001D67"/>
                    </a:gs>
                  </a:gsLst>
                  <a:lin ang="10800000" scaled="0"/>
                </a:gra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13200" b="1" dirty="0">
                <a:gradFill>
                  <a:gsLst>
                    <a:gs pos="0">
                      <a:srgbClr val="0135E2"/>
                    </a:gs>
                    <a:gs pos="53000">
                      <a:srgbClr val="77C2FF"/>
                    </a:gs>
                    <a:gs pos="100000">
                      <a:srgbClr val="001D67"/>
                    </a:gs>
                  </a:gsLst>
                  <a:lin ang="10800000" scaled="0"/>
                </a:gradFill>
                <a:latin typeface="Pretendard SemiBold"/>
                <a:ea typeface="Pretendard SemiBold"/>
                <a:cs typeface="Pretendard SemiBold"/>
              </a:rPr>
              <a:t>Manager</a:t>
            </a: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C5F0191F-5482-47AD-9C30-C820BD5966B7}"/>
              </a:ext>
            </a:extLst>
          </p:cNvPr>
          <p:cNvSpPr txBox="1"/>
          <p:nvPr/>
        </p:nvSpPr>
        <p:spPr>
          <a:xfrm>
            <a:off x="1181100" y="11157673"/>
            <a:ext cx="12458700" cy="54575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16199"/>
              </a:lnSpc>
            </a:pPr>
            <a:r>
              <a:rPr lang="ko-KR" altLang="en-US" sz="3200" b="1" dirty="0">
                <a:solidFill>
                  <a:srgbClr val="001D67"/>
                </a:solidFill>
                <a:latin typeface="Pretendard Medium"/>
                <a:ea typeface="Pretendard Medium"/>
                <a:cs typeface="Pretendard Medium"/>
              </a:rPr>
              <a:t>팀장 </a:t>
            </a:r>
            <a:r>
              <a:rPr lang="en-US" altLang="ko-KR" sz="3200" b="1" dirty="0">
                <a:solidFill>
                  <a:srgbClr val="001D67"/>
                </a:solidFill>
                <a:latin typeface="Pretendard Medium"/>
                <a:ea typeface="Pretendard Medium"/>
                <a:cs typeface="Pretendard Medium"/>
              </a:rPr>
              <a:t>: </a:t>
            </a:r>
            <a:r>
              <a:rPr lang="ko-KR" altLang="en-US" sz="3200" dirty="0">
                <a:solidFill>
                  <a:srgbClr val="001D67"/>
                </a:solidFill>
                <a:latin typeface="Pretendard Medium"/>
                <a:ea typeface="Pretendard Medium"/>
                <a:cs typeface="Pretendard Medium"/>
              </a:rPr>
              <a:t>한도현</a:t>
            </a:r>
            <a:r>
              <a:rPr lang="ko-KR" altLang="en-US" sz="3200" b="1" dirty="0">
                <a:solidFill>
                  <a:srgbClr val="001D67"/>
                </a:solidFill>
                <a:latin typeface="Pretendard Medium"/>
                <a:ea typeface="Pretendard Medium"/>
                <a:cs typeface="Pretendard Medium"/>
              </a:rPr>
              <a:t>   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1D67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팀원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001D67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: </a:t>
            </a:r>
            <a:r>
              <a:rPr kumimoji="0" lang="ko-KR" altLang="en-US" sz="3200" i="0" u="none" strike="noStrike" kern="1200" cap="none" spc="0" normalizeH="0" baseline="0" noProof="0" dirty="0" err="1">
                <a:ln>
                  <a:noFill/>
                </a:ln>
                <a:solidFill>
                  <a:srgbClr val="001D67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강재민</a:t>
            </a:r>
            <a:r>
              <a:rPr kumimoji="0" lang="en-US" altLang="ko-KR" sz="3200" i="0" u="none" strike="noStrike" kern="1200" cap="none" spc="0" normalizeH="0" baseline="0" noProof="0" dirty="0">
                <a:ln>
                  <a:noFill/>
                </a:ln>
                <a:solidFill>
                  <a:srgbClr val="001D67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, </a:t>
            </a:r>
            <a:r>
              <a:rPr kumimoji="0" lang="ko-KR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1D67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박민혁</a:t>
            </a:r>
            <a:r>
              <a:rPr kumimoji="0" lang="en-US" altLang="ko-KR" sz="3200" i="0" u="none" strike="noStrike" kern="1200" cap="none" spc="0" normalizeH="0" baseline="0" noProof="0" dirty="0">
                <a:ln>
                  <a:noFill/>
                </a:ln>
                <a:solidFill>
                  <a:srgbClr val="001D67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, </a:t>
            </a:r>
            <a:r>
              <a:rPr kumimoji="0" lang="ko-KR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1D67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유현석</a:t>
            </a:r>
            <a:r>
              <a:rPr kumimoji="0" lang="en-US" altLang="ko-KR" sz="3200" i="0" u="none" strike="noStrike" kern="1200" cap="none" spc="0" normalizeH="0" baseline="0" noProof="0" dirty="0">
                <a:ln>
                  <a:noFill/>
                </a:ln>
                <a:solidFill>
                  <a:srgbClr val="001D67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, </a:t>
            </a:r>
            <a:r>
              <a:rPr kumimoji="0" lang="ko-KR" altLang="en-US" sz="3200" i="0" u="none" strike="noStrike" kern="1200" cap="none" spc="0" normalizeH="0" baseline="0" noProof="0" dirty="0" err="1">
                <a:ln>
                  <a:noFill/>
                </a:ln>
                <a:solidFill>
                  <a:srgbClr val="001D67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조석원</a:t>
            </a:r>
            <a:r>
              <a:rPr kumimoji="0" lang="en-US" altLang="ko-KR" sz="3200" i="0" u="none" strike="noStrike" kern="1200" cap="none" spc="0" normalizeH="0" baseline="0" noProof="0" dirty="0">
                <a:ln>
                  <a:noFill/>
                </a:ln>
                <a:solidFill>
                  <a:srgbClr val="001D67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, </a:t>
            </a:r>
            <a:r>
              <a:rPr kumimoji="0" lang="ko-KR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1D67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조성민</a:t>
            </a:r>
            <a:endParaRPr kumimoji="0" lang="en-US" altLang="ko-KR" sz="3200" i="0" u="none" strike="noStrike" kern="1200" cap="none" spc="0" normalizeH="0" baseline="0" noProof="0" dirty="0">
              <a:ln>
                <a:noFill/>
              </a:ln>
              <a:solidFill>
                <a:srgbClr val="001D67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777472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05000"/>
            <a:ext cx="22860000" cy="111760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5000"/>
            <a:ext cx="22860000" cy="1016000"/>
          </a:xfrm>
          <a:prstGeom prst="rect">
            <a:avLst/>
          </a:prstGeom>
          <a:effectLst>
            <a:outerShdw blurRad="101600" dist="15631" dir="2700000">
              <a:srgbClr val="D6D6D6">
                <a:alpha val="2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8700" y="10706100"/>
            <a:ext cx="13385800" cy="119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826500" y="10858500"/>
            <a:ext cx="863600" cy="863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8700" y="9156700"/>
            <a:ext cx="13385800" cy="1193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826500" y="9309100"/>
            <a:ext cx="863600" cy="863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8700" y="7607300"/>
            <a:ext cx="13385800" cy="1193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826500" y="7759700"/>
            <a:ext cx="863600" cy="863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8700" y="6057900"/>
            <a:ext cx="13385800" cy="1193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826500" y="6210300"/>
            <a:ext cx="863600" cy="863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48700" y="4508500"/>
            <a:ext cx="13385800" cy="1193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826500" y="4660900"/>
            <a:ext cx="863600" cy="863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48700" y="2959100"/>
            <a:ext cx="13385800" cy="1193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826500" y="3111500"/>
            <a:ext cx="863600" cy="863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199100" y="9321800"/>
            <a:ext cx="7708900" cy="5994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08250" y="5689600"/>
            <a:ext cx="7708900" cy="59944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701800" y="863600"/>
            <a:ext cx="20320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altLang="ko-KR" sz="3139" b="0" i="0" u="none" strike="noStrike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LAIVE</a:t>
            </a:r>
            <a:endParaRPr lang="en-US" sz="3139" b="0" i="0" u="none" strike="noStrike" dirty="0">
              <a:solidFill>
                <a:srgbClr val="FFFFFF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30300" y="990600"/>
            <a:ext cx="469900" cy="3302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287000" y="10960100"/>
            <a:ext cx="8305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3733" b="0" i="0" u="none" strike="noStrike" dirty="0">
                <a:solidFill>
                  <a:srgbClr val="001D67"/>
                </a:solidFill>
                <a:latin typeface="Pretendard Medium"/>
                <a:ea typeface="Pretendard Medium"/>
                <a:cs typeface="Pretendard Medium"/>
              </a:rPr>
              <a:t>기대효과</a:t>
            </a:r>
            <a:r>
              <a:rPr lang="en-US" altLang="ko-KR" sz="3733" b="0" i="0" u="none" strike="noStrike" dirty="0">
                <a:solidFill>
                  <a:srgbClr val="001D67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ko-KR" altLang="en-US" sz="3733" b="0" i="0" u="none" strike="noStrike" dirty="0">
                <a:solidFill>
                  <a:srgbClr val="001D67"/>
                </a:solidFill>
                <a:latin typeface="Pretendard Medium"/>
                <a:ea typeface="Pretendard Medium"/>
                <a:cs typeface="Pretendard Medium"/>
              </a:rPr>
              <a:t>고도화 방안</a:t>
            </a:r>
            <a:endParaRPr lang="en-US" sz="3733" b="0" i="0" u="none" strike="noStrike" dirty="0">
              <a:solidFill>
                <a:srgbClr val="001D67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287000" y="9410700"/>
            <a:ext cx="8305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3733" b="0" i="0" u="none" strike="noStrike" dirty="0">
                <a:solidFill>
                  <a:srgbClr val="001D67"/>
                </a:solidFill>
                <a:latin typeface="Pretendard Medium"/>
                <a:ea typeface="Pretendard Medium"/>
                <a:cs typeface="Pretendard Medium"/>
              </a:rPr>
              <a:t>차별성</a:t>
            </a:r>
            <a:endParaRPr lang="en-US" altLang="ko-KR" sz="3733" b="0" i="0" u="none" strike="noStrike" dirty="0">
              <a:solidFill>
                <a:srgbClr val="001D67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287000" y="7861300"/>
            <a:ext cx="8305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3733" b="0" i="0" u="none" strike="noStrike" dirty="0">
                <a:solidFill>
                  <a:srgbClr val="001D67"/>
                </a:solidFill>
                <a:latin typeface="Pretendard Medium"/>
                <a:ea typeface="Pretendard Medium"/>
                <a:cs typeface="Pretendard Medium"/>
              </a:rPr>
              <a:t>아키텍처 구성도</a:t>
            </a:r>
            <a:endParaRPr lang="en-US" altLang="ko-KR" sz="3733" b="0" i="0" u="none" strike="noStrike" dirty="0">
              <a:solidFill>
                <a:srgbClr val="001D67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287000" y="6311900"/>
            <a:ext cx="8305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3733" b="0" i="0" u="none" strike="noStrike" dirty="0">
                <a:solidFill>
                  <a:srgbClr val="001D67"/>
                </a:solidFill>
                <a:latin typeface="Pretendard Medium"/>
                <a:ea typeface="Pretendard Medium"/>
                <a:cs typeface="Pretendard Medium"/>
              </a:rPr>
              <a:t>서비스 흐름도 </a:t>
            </a:r>
            <a:r>
              <a:rPr lang="en-US" altLang="ko-KR" sz="3733" b="0" i="0" u="none" strike="noStrike" dirty="0">
                <a:solidFill>
                  <a:srgbClr val="001D67"/>
                </a:solidFill>
                <a:latin typeface="Pretendard Medium"/>
                <a:ea typeface="Pretendard Medium"/>
                <a:cs typeface="Pretendard Medium"/>
              </a:rPr>
              <a:t>(</a:t>
            </a:r>
            <a:r>
              <a:rPr lang="ko-KR" altLang="en-US" sz="3733" b="0" i="0" u="none" strike="noStrike" dirty="0">
                <a:solidFill>
                  <a:srgbClr val="001D67"/>
                </a:solidFill>
                <a:latin typeface="Pretendard Medium"/>
                <a:ea typeface="Pretendard Medium"/>
                <a:cs typeface="Pretendard Medium"/>
              </a:rPr>
              <a:t>사용자 시점</a:t>
            </a:r>
            <a:r>
              <a:rPr lang="en-US" altLang="ko-KR" sz="3733" b="0" i="0" u="none" strike="noStrike" dirty="0">
                <a:solidFill>
                  <a:srgbClr val="001D67"/>
                </a:solidFill>
                <a:latin typeface="Pretendard Medium"/>
                <a:ea typeface="Pretendard Medium"/>
                <a:cs typeface="Pretendard Medium"/>
              </a:rPr>
              <a:t>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0" y="4775200"/>
            <a:ext cx="8305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3733" b="0" i="0" u="none" strike="noStrike" dirty="0">
                <a:solidFill>
                  <a:srgbClr val="001D67"/>
                </a:solidFill>
                <a:latin typeface="Pretendard Medium"/>
                <a:ea typeface="Pretendard Medium"/>
                <a:cs typeface="Pretendard Medium"/>
              </a:rPr>
              <a:t>주요 기능 및 적용 기술 </a:t>
            </a:r>
            <a:r>
              <a:rPr lang="en-US" altLang="ko-KR" sz="3733" b="0" i="0" u="none" strike="noStrike" dirty="0">
                <a:solidFill>
                  <a:srgbClr val="001D67"/>
                </a:solidFill>
                <a:latin typeface="Pretendard Medium"/>
                <a:ea typeface="Pretendard Medium"/>
                <a:cs typeface="Pretendard Medium"/>
              </a:rPr>
              <a:t>(3</a:t>
            </a:r>
            <a:r>
              <a:rPr lang="ko-KR" altLang="en-US" sz="3733" b="0" i="0" u="none" strike="noStrike" dirty="0">
                <a:solidFill>
                  <a:srgbClr val="001D67"/>
                </a:solidFill>
                <a:latin typeface="Pretendard Medium"/>
                <a:ea typeface="Pretendard Medium"/>
                <a:cs typeface="Pretendard Medium"/>
              </a:rPr>
              <a:t>가지 핵심 기능</a:t>
            </a:r>
            <a:r>
              <a:rPr lang="en-US" altLang="ko-KR" sz="3733" b="0" i="0" u="none" strike="noStrike" dirty="0">
                <a:solidFill>
                  <a:srgbClr val="001D67"/>
                </a:solidFill>
                <a:latin typeface="Pretendard Medium"/>
                <a:ea typeface="Pretendard Medium"/>
                <a:cs typeface="Pretendard Medium"/>
              </a:rPr>
              <a:t>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0" y="3225800"/>
            <a:ext cx="8305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16199"/>
              </a:lnSpc>
            </a:pPr>
            <a:r>
              <a:rPr lang="ko-KR" altLang="en-US" sz="3733" b="0" i="0" u="none" strike="noStrike" dirty="0">
                <a:solidFill>
                  <a:srgbClr val="001D67"/>
                </a:solidFill>
                <a:latin typeface="Pretendard Medium"/>
                <a:ea typeface="Pretendard Medium"/>
                <a:cs typeface="Pretendard Medium"/>
              </a:rPr>
              <a:t>주제 선정 이유</a:t>
            </a:r>
            <a:endParaRPr lang="en-US" altLang="ko-KR" sz="3733" b="0" i="0" u="none" strike="noStrike" dirty="0">
              <a:solidFill>
                <a:srgbClr val="001D67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118600" y="10972800"/>
            <a:ext cx="4064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18600" y="9436100"/>
            <a:ext cx="3937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118600" y="7874000"/>
            <a:ext cx="4064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18600" y="6324600"/>
            <a:ext cx="4064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31300" y="4775200"/>
            <a:ext cx="3937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44000" y="3225800"/>
            <a:ext cx="3302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27200" y="4584700"/>
            <a:ext cx="6604000" cy="113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altLang="ko-KR" sz="3066" b="0" i="0" u="none" strike="noStrike" dirty="0">
                <a:solidFill>
                  <a:srgbClr val="001D67"/>
                </a:solidFill>
                <a:latin typeface="Pretendard Regular"/>
                <a:ea typeface="Pretendard Regular"/>
                <a:cs typeface="Pretendard Regular"/>
              </a:rPr>
              <a:t>1</a:t>
            </a:r>
            <a:r>
              <a:rPr lang="ko-KR" altLang="en-US" sz="3066" b="0" i="0" u="none" strike="noStrike" dirty="0">
                <a:solidFill>
                  <a:srgbClr val="001D67"/>
                </a:solidFill>
                <a:latin typeface="Pretendard Regular"/>
                <a:ea typeface="Pretendard Regular"/>
                <a:cs typeface="Pretendard Regular"/>
              </a:rPr>
              <a:t>인 </a:t>
            </a:r>
            <a:r>
              <a:rPr lang="ko-KR" altLang="en-US" sz="3066" b="0" i="0" u="none" strike="noStrike" dirty="0" err="1">
                <a:solidFill>
                  <a:srgbClr val="001D67"/>
                </a:solidFill>
                <a:latin typeface="Pretendard Regular"/>
                <a:ea typeface="Pretendard Regular"/>
                <a:cs typeface="Pretendard Regular"/>
              </a:rPr>
              <a:t>스트리머를</a:t>
            </a:r>
            <a:r>
              <a:rPr lang="ko-KR" altLang="en-US" sz="3066" b="0" i="0" u="none" strike="noStrike" dirty="0">
                <a:solidFill>
                  <a:srgbClr val="001D67"/>
                </a:solidFill>
                <a:latin typeface="Pretendard Regular"/>
                <a:ea typeface="Pretendard Regular"/>
                <a:cs typeface="Pretendard Regular"/>
              </a:rPr>
              <a:t> 돕는 똑똑한 비서 </a:t>
            </a:r>
            <a:endParaRPr lang="en-US" altLang="ko-KR" sz="3066" b="0" i="0" u="none" strike="noStrike" dirty="0">
              <a:solidFill>
                <a:srgbClr val="001D67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24499"/>
              </a:lnSpc>
            </a:pPr>
            <a:r>
              <a:rPr lang="en-US" sz="3066" i="0" u="none" strike="noStrike" dirty="0">
                <a:solidFill>
                  <a:srgbClr val="001D67"/>
                </a:solidFill>
                <a:latin typeface="Pretendard Regular"/>
                <a:ea typeface="Pretendard Regular"/>
                <a:cs typeface="Pretendard Regular"/>
              </a:rPr>
              <a:t>LAIVE : AI Manager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89100" y="2692400"/>
            <a:ext cx="5575300" cy="166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9333" b="0" i="0" u="none" strike="noStrike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목차</a:t>
            </a: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186400" y="889000"/>
            <a:ext cx="5588000" cy="47117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95D9F914-0B97-4195-81A5-6FF7586299E3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-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2 -  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5">
            <a:extLst>
              <a:ext uri="{FF2B5EF4-FFF2-40B4-BE49-F238E27FC236}">
                <a16:creationId xmlns:a16="http://schemas.microsoft.com/office/drawing/2014/main" id="{04ADF442-BEB5-4DA4-BEEE-C83DAC0E0246}"/>
              </a:ext>
            </a:extLst>
          </p:cNvPr>
          <p:cNvSpPr/>
          <p:nvPr/>
        </p:nvSpPr>
        <p:spPr>
          <a:xfrm>
            <a:off x="8254362" y="6627931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기획자</a:t>
            </a:r>
            <a:endParaRPr lang="en-US" sz="4800" dirty="0">
              <a:solidFill>
                <a:schemeClr val="bg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5D29B07C-4C76-4131-ACF8-0C4ACE6F27C1}"/>
              </a:ext>
            </a:extLst>
          </p:cNvPr>
          <p:cNvSpPr/>
          <p:nvPr/>
        </p:nvSpPr>
        <p:spPr>
          <a:xfrm>
            <a:off x="8826820" y="6626041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 err="1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매니저</a:t>
            </a:r>
            <a:endParaRPr lang="en-US" sz="4800" dirty="0">
              <a:solidFill>
                <a:schemeClr val="bg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ECF0B666-0C68-4F32-975D-D56161BE4B8B}"/>
              </a:ext>
            </a:extLst>
          </p:cNvPr>
          <p:cNvSpPr/>
          <p:nvPr/>
        </p:nvSpPr>
        <p:spPr>
          <a:xfrm>
            <a:off x="8518206" y="6665888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편집자</a:t>
            </a:r>
            <a:r>
              <a:rPr lang="en-US" altLang="ko-KR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, </a:t>
            </a:r>
            <a:r>
              <a:rPr lang="ko-KR" altLang="en-US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마케터</a:t>
            </a:r>
            <a:endParaRPr lang="en-US" sz="4800" dirty="0">
              <a:solidFill>
                <a:schemeClr val="bg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3839" y="-1568450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28" name="Picture 4">
            <a:extLst>
              <a:ext uri="{FF2B5EF4-FFF2-40B4-BE49-F238E27FC236}">
                <a16:creationId xmlns:a16="http://schemas.microsoft.com/office/drawing/2014/main" id="{669A76E8-654B-4F23-9659-3AC3559EF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E9BE392-8DDC-4CB6-9C11-222DA958ED5E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-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3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-  </a:t>
            </a:r>
            <a:endParaRPr lang="ko-KR" alt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75E544-1481-4784-A9EB-4715AE81AAD1}"/>
              </a:ext>
            </a:extLst>
          </p:cNvPr>
          <p:cNvSpPr txBox="1"/>
          <p:nvPr/>
        </p:nvSpPr>
        <p:spPr>
          <a:xfrm>
            <a:off x="2778080" y="5350012"/>
            <a:ext cx="18827839" cy="20433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2000"/>
              </a:spcAft>
            </a:pPr>
            <a:r>
              <a:rPr lang="en-US" altLang="ko-KR" sz="9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1. </a:t>
            </a:r>
            <a:r>
              <a:rPr lang="ko-KR" altLang="en-US" sz="9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주제 선정 이유</a:t>
            </a:r>
            <a:endParaRPr lang="en-US" altLang="ko-KR" sz="23900" b="1" dirty="0">
              <a:solidFill>
                <a:schemeClr val="tx1">
                  <a:lumMod val="75000"/>
                  <a:lumOff val="25000"/>
                </a:schemeClr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3263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17" name="TextBox 17"/>
          <p:cNvSpPr txBox="1"/>
          <p:nvPr/>
        </p:nvSpPr>
        <p:spPr>
          <a:xfrm>
            <a:off x="1739900" y="1217164"/>
            <a:ext cx="104267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AI </a:t>
            </a:r>
            <a:r>
              <a:rPr lang="ko-KR" altLang="en-US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매니저가 필요한 이유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?</a:t>
            </a:r>
            <a:endParaRPr lang="en-US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03F73E6D-4441-43F7-8A0C-12CDF0A917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17" b="22888"/>
          <a:stretch/>
        </p:blipFill>
        <p:spPr bwMode="auto">
          <a:xfrm>
            <a:off x="1775572" y="3886831"/>
            <a:ext cx="11064128" cy="3213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>
            <a:extLst>
              <a:ext uri="{FF2B5EF4-FFF2-40B4-BE49-F238E27FC236}">
                <a16:creationId xmlns:a16="http://schemas.microsoft.com/office/drawing/2014/main" id="{3777180A-7DF7-422B-931C-80947CA0C9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82" b="25427"/>
          <a:stretch/>
        </p:blipFill>
        <p:spPr bwMode="auto">
          <a:xfrm>
            <a:off x="3279116" y="8155595"/>
            <a:ext cx="7853256" cy="2512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8">
            <a:extLst>
              <a:ext uri="{FF2B5EF4-FFF2-40B4-BE49-F238E27FC236}">
                <a16:creationId xmlns:a16="http://schemas.microsoft.com/office/drawing/2014/main" id="{75DF5013-48FE-45D4-8DE4-B58F5498DF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469" b="28843"/>
          <a:stretch/>
        </p:blipFill>
        <p:spPr bwMode="auto">
          <a:xfrm>
            <a:off x="12524058" y="4077641"/>
            <a:ext cx="8202342" cy="2626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1463F19-163C-4A04-82AE-82B1DB0F0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7482" y="7574495"/>
            <a:ext cx="4855493" cy="2991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AF2503F-E435-4406-A588-ABD0D3F03F19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- 4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-  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57900" y="-1574800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6CE65145-0E34-401B-8F1F-7903C56F43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099" y="5334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E6E0F4C-E7F4-4FF9-9C59-93BCEF51DE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3167892"/>
            <a:ext cx="18224500" cy="9330944"/>
          </a:xfrm>
          <a:prstGeom prst="rect">
            <a:avLst/>
          </a:prstGeom>
        </p:spPr>
      </p:pic>
      <p:sp>
        <p:nvSpPr>
          <p:cNvPr id="13" name="TextBox 17">
            <a:extLst>
              <a:ext uri="{FF2B5EF4-FFF2-40B4-BE49-F238E27FC236}">
                <a16:creationId xmlns:a16="http://schemas.microsoft.com/office/drawing/2014/main" id="{75A29452-9AFB-448F-A37F-909B71FDAA50}"/>
              </a:ext>
            </a:extLst>
          </p:cNvPr>
          <p:cNvSpPr txBox="1"/>
          <p:nvPr/>
        </p:nvSpPr>
        <p:spPr>
          <a:xfrm>
            <a:off x="1739900" y="1217164"/>
            <a:ext cx="231775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ko-KR" altLang="en-US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라이브 스트리밍 시장은 </a:t>
            </a:r>
            <a:r>
              <a:rPr lang="ko-KR" altLang="en-US" sz="6600" b="0" i="0" u="none" strike="noStrike" spc="-200" dirty="0">
                <a:solidFill>
                  <a:srgbClr val="2E5BFF"/>
                </a:solidFill>
                <a:latin typeface="Pretendard Bold"/>
                <a:ea typeface="Pretendard Bold"/>
                <a:cs typeface="Pretendard Bold"/>
              </a:rPr>
              <a:t>연평균 </a:t>
            </a:r>
            <a:r>
              <a:rPr lang="en-US" altLang="ko-KR" sz="6600" b="0" i="0" u="none" strike="noStrike" spc="-200" dirty="0">
                <a:solidFill>
                  <a:srgbClr val="2E5BFF"/>
                </a:solidFill>
                <a:latin typeface="Pretendard Bold"/>
                <a:ea typeface="Pretendard Bold"/>
                <a:cs typeface="Pretendard Bold"/>
              </a:rPr>
              <a:t>23% </a:t>
            </a:r>
            <a:r>
              <a:rPr lang="ko-KR" altLang="en-US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씩 성장하는 시장입니다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30CADF-A01A-4AF9-9DE6-CF4B74D1F706}"/>
              </a:ext>
            </a:extLst>
          </p:cNvPr>
          <p:cNvSpPr txBox="1"/>
          <p:nvPr/>
        </p:nvSpPr>
        <p:spPr>
          <a:xfrm>
            <a:off x="17983200" y="4315890"/>
            <a:ext cx="2220686" cy="76944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4400" spc="-200" dirty="0">
                <a:solidFill>
                  <a:srgbClr val="001D67"/>
                </a:solidFill>
                <a:latin typeface="Pretendard Bold"/>
                <a:ea typeface="Pretendard Bold"/>
              </a:rPr>
              <a:t>510</a:t>
            </a:r>
            <a:r>
              <a:rPr lang="ko-KR" altLang="en-US" sz="4400" spc="-200" dirty="0">
                <a:solidFill>
                  <a:srgbClr val="001D67"/>
                </a:solidFill>
                <a:latin typeface="Pretendard Bold"/>
                <a:ea typeface="Pretendard Bold"/>
              </a:rPr>
              <a:t>조 원</a:t>
            </a:r>
            <a:endParaRPr lang="ko-KR" altLang="en-US" sz="4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B8B661-7CF3-4308-AC54-331BAB38A920}"/>
              </a:ext>
            </a:extLst>
          </p:cNvPr>
          <p:cNvSpPr txBox="1"/>
          <p:nvPr/>
        </p:nvSpPr>
        <p:spPr>
          <a:xfrm>
            <a:off x="3799114" y="8722016"/>
            <a:ext cx="2449286" cy="76944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4400" spc="-200" dirty="0">
                <a:solidFill>
                  <a:srgbClr val="001D67"/>
                </a:solidFill>
                <a:latin typeface="Pretendard Bold"/>
                <a:ea typeface="Pretendard Bold"/>
              </a:rPr>
              <a:t>150</a:t>
            </a:r>
            <a:r>
              <a:rPr lang="ko-KR" altLang="en-US" sz="4400" spc="-200" dirty="0">
                <a:solidFill>
                  <a:srgbClr val="001D67"/>
                </a:solidFill>
                <a:latin typeface="Pretendard Bold"/>
                <a:ea typeface="Pretendard Bold"/>
              </a:rPr>
              <a:t>조 원</a:t>
            </a:r>
            <a:endParaRPr lang="ko-KR" altLang="en-US" sz="4400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7BB0045-4534-4B02-BFA7-B6013FF6490A}"/>
              </a:ext>
            </a:extLst>
          </p:cNvPr>
          <p:cNvSpPr/>
          <p:nvPr/>
        </p:nvSpPr>
        <p:spPr>
          <a:xfrm>
            <a:off x="9246507" y="5104209"/>
            <a:ext cx="3759200" cy="37592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3E68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0" b="0" i="0" u="none" strike="noStrike" kern="1200" cap="none" spc="-200" normalizeH="0" baseline="0" noProof="0" dirty="0">
                <a:ln>
                  <a:noFill/>
                </a:ln>
                <a:solidFill>
                  <a:srgbClr val="001D67"/>
                </a:solidFill>
                <a:effectLst/>
                <a:uLnTx/>
                <a:uFillTx/>
                <a:latin typeface="Pretendard Bold"/>
                <a:ea typeface="Pretendard Bold"/>
                <a:cs typeface="+mn-cs"/>
              </a:rPr>
              <a:t>CAGR 23.0%</a:t>
            </a:r>
            <a:endParaRPr kumimoji="0" lang="ko-KR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B246A3-94FB-45BA-B282-8E9574A6D9AA}"/>
              </a:ext>
            </a:extLst>
          </p:cNvPr>
          <p:cNvSpPr txBox="1"/>
          <p:nvPr/>
        </p:nvSpPr>
        <p:spPr>
          <a:xfrm>
            <a:off x="0" y="132588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-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5 -  </a:t>
            </a:r>
            <a:endParaRPr lang="ko-KR" altLang="en-US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297F47-6B60-4682-92CE-48E716C23FF7}"/>
              </a:ext>
            </a:extLst>
          </p:cNvPr>
          <p:cNvSpPr txBox="1"/>
          <p:nvPr/>
        </p:nvSpPr>
        <p:spPr>
          <a:xfrm>
            <a:off x="2913743" y="3337564"/>
            <a:ext cx="2449286" cy="76944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4400" spc="-200" dirty="0">
                <a:solidFill>
                  <a:srgbClr val="001D67"/>
                </a:solidFill>
                <a:latin typeface="Pretendard Bold"/>
                <a:ea typeface="Pretendard Bold"/>
              </a:rPr>
              <a:t>     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676615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57900" y="-1574800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0B3647C6-CF03-4BAA-BB75-125549F07E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099" y="5334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8E551E0-E53B-4DAB-BFB5-A58D8BF520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9800" y="4512635"/>
            <a:ext cx="14528800" cy="7438746"/>
          </a:xfrm>
          <a:prstGeom prst="rect">
            <a:avLst/>
          </a:prstGeom>
        </p:spPr>
      </p:pic>
      <p:sp>
        <p:nvSpPr>
          <p:cNvPr id="13" name="TextBox 17">
            <a:extLst>
              <a:ext uri="{FF2B5EF4-FFF2-40B4-BE49-F238E27FC236}">
                <a16:creationId xmlns:a16="http://schemas.microsoft.com/office/drawing/2014/main" id="{1DBE36D9-F64C-494F-993D-290C3F5ABE01}"/>
              </a:ext>
            </a:extLst>
          </p:cNvPr>
          <p:cNvSpPr txBox="1"/>
          <p:nvPr/>
        </p:nvSpPr>
        <p:spPr>
          <a:xfrm>
            <a:off x="1739900" y="1217164"/>
            <a:ext cx="231775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최근 시장은 </a:t>
            </a:r>
            <a:r>
              <a:rPr lang="en-US" altLang="ko-KR" sz="6600" spc="-200" dirty="0">
                <a:solidFill>
                  <a:srgbClr val="3E68FF"/>
                </a:solidFill>
                <a:latin typeface="Pretendard Bold"/>
                <a:ea typeface="Pretendard Bold"/>
                <a:cs typeface="Pretendard Bold"/>
              </a:rPr>
              <a:t>‘</a:t>
            </a:r>
            <a:r>
              <a:rPr lang="ko-KR" altLang="en-US" sz="6600" spc="-200" dirty="0" err="1">
                <a:solidFill>
                  <a:srgbClr val="3E68FF"/>
                </a:solidFill>
                <a:latin typeface="Pretendard Bold"/>
                <a:ea typeface="Pretendard Bold"/>
                <a:cs typeface="Pretendard Bold"/>
              </a:rPr>
              <a:t>버튜버</a:t>
            </a:r>
            <a:r>
              <a:rPr lang="en-US" altLang="ko-KR" sz="6600" spc="-200" dirty="0">
                <a:solidFill>
                  <a:srgbClr val="3E68FF"/>
                </a:solidFill>
                <a:latin typeface="Pretendard Bold"/>
                <a:ea typeface="Pretendard Bold"/>
                <a:cs typeface="Pretendard Bold"/>
              </a:rPr>
              <a:t>’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를 중심으로 폭발적으로 성장 중입니다</a:t>
            </a:r>
            <a:r>
              <a:rPr lang="en-US" altLang="ko-KR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.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07494BE-35E5-41A7-80FC-5B41A3A572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071" y="4289522"/>
            <a:ext cx="6544729" cy="750333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21C0107-08DB-4E72-BF56-583D2EA2125B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- 6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-  </a:t>
            </a:r>
            <a:endParaRPr lang="ko-KR" alt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ADF878-AADC-4683-9D91-BA9D0D284FC1}"/>
              </a:ext>
            </a:extLst>
          </p:cNvPr>
          <p:cNvSpPr txBox="1"/>
          <p:nvPr/>
        </p:nvSpPr>
        <p:spPr>
          <a:xfrm>
            <a:off x="8153400" y="4576907"/>
            <a:ext cx="4800600" cy="76944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4400" spc="-200" dirty="0">
                <a:solidFill>
                  <a:srgbClr val="001D67"/>
                </a:solidFill>
                <a:latin typeface="Pretendard Bold"/>
                <a:ea typeface="Pretendard Bold"/>
              </a:rPr>
              <a:t>     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109345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57900" y="-1574800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37" name="Picture 4">
            <a:extLst>
              <a:ext uri="{FF2B5EF4-FFF2-40B4-BE49-F238E27FC236}">
                <a16:creationId xmlns:a16="http://schemas.microsoft.com/office/drawing/2014/main" id="{92FC4A88-C881-4576-B614-97A3C34E5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17" name="TextBox 17"/>
          <p:cNvSpPr txBox="1"/>
          <p:nvPr/>
        </p:nvSpPr>
        <p:spPr>
          <a:xfrm>
            <a:off x="1600200" y="7048501"/>
            <a:ext cx="21053355" cy="125504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하지만 신규 </a:t>
            </a:r>
            <a:r>
              <a:rPr lang="ko-KR" altLang="en-US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스트리머</a:t>
            </a:r>
            <a:r>
              <a:rPr lang="ko-KR" altLang="en-US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00" spc="-200" dirty="0">
                <a:solidFill>
                  <a:srgbClr val="C00000"/>
                </a:solidFill>
                <a:latin typeface="Pretendard Bold"/>
                <a:ea typeface="Pretendard Bold"/>
                <a:cs typeface="Pretendard Bold"/>
              </a:rPr>
              <a:t>10</a:t>
            </a:r>
            <a:r>
              <a:rPr lang="ko-KR" altLang="en-US" sz="6600" spc="-200" dirty="0">
                <a:solidFill>
                  <a:srgbClr val="C00000"/>
                </a:solidFill>
                <a:latin typeface="Pretendard Bold"/>
                <a:ea typeface="Pretendard Bold"/>
                <a:cs typeface="Pretendard Bold"/>
              </a:rPr>
              <a:t>명 중 </a:t>
            </a:r>
            <a:r>
              <a:rPr lang="en-US" altLang="ko-KR" sz="6600" spc="-200" dirty="0">
                <a:solidFill>
                  <a:srgbClr val="C00000"/>
                </a:solidFill>
                <a:latin typeface="Pretendard Bold"/>
                <a:ea typeface="Pretendard Bold"/>
                <a:cs typeface="Pretendard Bold"/>
              </a:rPr>
              <a:t>7</a:t>
            </a:r>
            <a:r>
              <a:rPr lang="ko-KR" altLang="en-US" sz="6600" spc="-200" dirty="0">
                <a:solidFill>
                  <a:srgbClr val="C00000"/>
                </a:solidFill>
                <a:latin typeface="Pretendard Bold"/>
                <a:ea typeface="Pretendard Bold"/>
                <a:cs typeface="Pretendard Bold"/>
              </a:rPr>
              <a:t>명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은</a:t>
            </a:r>
            <a:r>
              <a:rPr lang="en-US" altLang="ko-KR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, 3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개월을 넘기지 못합니다</a:t>
            </a:r>
            <a:endParaRPr lang="en-US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373B29C-ABE1-4213-8B90-47242D11F366}"/>
              </a:ext>
            </a:extLst>
          </p:cNvPr>
          <p:cNvGrpSpPr/>
          <p:nvPr/>
        </p:nvGrpSpPr>
        <p:grpSpPr>
          <a:xfrm>
            <a:off x="3611325" y="3960849"/>
            <a:ext cx="17576073" cy="2348795"/>
            <a:chOff x="3611325" y="3860800"/>
            <a:chExt cx="17576073" cy="234879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72547E7-7F16-4715-92B5-57242B7D9F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1325" y="4249279"/>
              <a:ext cx="1752600" cy="1752600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629932C0-B7F2-46D7-8132-5C6843EBC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8251" y="4249279"/>
              <a:ext cx="1752600" cy="1752600"/>
            </a:xfrm>
            <a:prstGeom prst="rect">
              <a:avLst/>
            </a:pr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1BC5F1B2-507A-4E00-A83F-630968E7F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5177" y="4249279"/>
              <a:ext cx="1752600" cy="1752600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D7824016-E7C6-430C-B695-63E5560FD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92103" y="4249279"/>
              <a:ext cx="1752600" cy="1752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5DE9E4A3-367D-4C63-A078-16BEDE0939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9029" y="4249279"/>
              <a:ext cx="1752600" cy="1752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33285BDF-824B-484E-9779-1D69417EA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45955" y="4249279"/>
              <a:ext cx="1752600" cy="1752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39B12A22-0E62-4D9A-A5A5-65DAF5B85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972881" y="4249279"/>
              <a:ext cx="1752600" cy="1752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4385B0E9-000D-4498-AEB8-2AB136E6E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99807" y="4249279"/>
              <a:ext cx="1752600" cy="1752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4014FA48-001C-418B-923F-73FD9C04FB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26733" y="4249279"/>
              <a:ext cx="1752600" cy="1752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E00E3DA8-D0A3-433E-80BE-E92F70382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53661" y="4249279"/>
              <a:ext cx="1752600" cy="1752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A5341A3-B4A6-4D71-B1AB-8B81C1E3E2AC}"/>
                </a:ext>
              </a:extLst>
            </p:cNvPr>
            <p:cNvSpPr/>
            <p:nvPr/>
          </p:nvSpPr>
          <p:spPr>
            <a:xfrm>
              <a:off x="8817777" y="3860800"/>
              <a:ext cx="12369621" cy="2348795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C8ADDE58-8E89-4A71-A150-593D4EF9247C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-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7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-  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97243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57900" y="-1574800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37" name="Picture 4">
            <a:extLst>
              <a:ext uri="{FF2B5EF4-FFF2-40B4-BE49-F238E27FC236}">
                <a16:creationId xmlns:a16="http://schemas.microsoft.com/office/drawing/2014/main" id="{92FC4A88-C881-4576-B614-97A3C34E5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17" name="TextBox 17"/>
          <p:cNvSpPr txBox="1"/>
          <p:nvPr/>
        </p:nvSpPr>
        <p:spPr>
          <a:xfrm>
            <a:off x="1600200" y="6847114"/>
            <a:ext cx="21053355" cy="25236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</a:rPr>
              <a:t>약 </a:t>
            </a:r>
            <a:r>
              <a:rPr lang="en-US" altLang="ko-KR" sz="6600" spc="-200" dirty="0">
                <a:solidFill>
                  <a:srgbClr val="C00000"/>
                </a:solidFill>
                <a:latin typeface="Pretendard Bold"/>
                <a:ea typeface="Pretendard Bold"/>
              </a:rPr>
              <a:t>90%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</a:rPr>
              <a:t>의 신규 </a:t>
            </a:r>
            <a:r>
              <a:rPr lang="ko-KR" altLang="en-US" sz="6600" spc="-200" dirty="0" err="1">
                <a:solidFill>
                  <a:srgbClr val="001D67"/>
                </a:solidFill>
                <a:latin typeface="Pretendard Bold"/>
                <a:ea typeface="Pretendard Bold"/>
              </a:rPr>
              <a:t>스트리머의</a:t>
            </a:r>
            <a:r>
              <a:rPr lang="en-US" altLang="ko-KR" sz="6600" spc="-200" dirty="0">
                <a:solidFill>
                  <a:srgbClr val="001D67"/>
                </a:solidFill>
                <a:latin typeface="Pretendard Bold"/>
                <a:ea typeface="Pretendard Bold"/>
              </a:rPr>
              <a:t>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</a:rPr>
              <a:t>월평균 수익 </a:t>
            </a:r>
            <a:r>
              <a:rPr lang="ko-KR" altLang="en-US" sz="6600" spc="-200" dirty="0">
                <a:solidFill>
                  <a:srgbClr val="C00000"/>
                </a:solidFill>
                <a:latin typeface="Pretendard Bold"/>
                <a:ea typeface="Pretendard Bold"/>
              </a:rPr>
              <a:t>최저임금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</a:rPr>
              <a:t> 수준</a:t>
            </a:r>
            <a:endParaRPr lang="en-US" altLang="ko-KR" sz="6600" spc="-200" dirty="0">
              <a:solidFill>
                <a:srgbClr val="001D67"/>
              </a:solidFill>
              <a:latin typeface="Pretendard Bold"/>
              <a:ea typeface="Pretendard Bol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905E1D-37B8-4E40-ABC2-83D6AB7E712D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- 8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-  </a:t>
            </a:r>
            <a:endParaRPr lang="ko-KR" altLang="en-US" sz="20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CB0A1AE-C536-48E7-8A6D-9F72028EF6CC}"/>
              </a:ext>
            </a:extLst>
          </p:cNvPr>
          <p:cNvGrpSpPr/>
          <p:nvPr/>
        </p:nvGrpSpPr>
        <p:grpSpPr>
          <a:xfrm>
            <a:off x="3611325" y="3960849"/>
            <a:ext cx="17576073" cy="2348795"/>
            <a:chOff x="3611325" y="3860800"/>
            <a:chExt cx="17576073" cy="2348795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A6120A45-305C-4A20-B60C-ED6FDA6862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1325" y="4249279"/>
              <a:ext cx="1752600" cy="1752600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2B77E21E-F081-4A69-9A61-B92994C1B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8251" y="4249279"/>
              <a:ext cx="1752600" cy="1752600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E0A3FBBB-8B07-4DAE-80E1-41BFD4EEBE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5177" y="4249279"/>
              <a:ext cx="1752600" cy="1752600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E5B0AD64-FA2D-47A9-B6C8-B22AF7A2E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92103" y="4249279"/>
              <a:ext cx="1752600" cy="1752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4D31F62C-7CC8-4FA4-B383-4FA650D52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9029" y="4249279"/>
              <a:ext cx="1752600" cy="1752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D30292E7-AF62-4C5B-8A3B-24C3C0534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45955" y="4249279"/>
              <a:ext cx="1752600" cy="1752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BD179BDA-4EE1-4DCF-B9DF-796BFEB6B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972881" y="4249279"/>
              <a:ext cx="1752600" cy="1752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3436DC54-203C-40E0-88C3-38C1B0210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99807" y="4249279"/>
              <a:ext cx="1752600" cy="1752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72D681F3-E820-419B-A608-860055FC9A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26733" y="4249279"/>
              <a:ext cx="1752600" cy="1752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9D988D11-B719-4A80-A41F-E2250CDD9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53661" y="4249279"/>
              <a:ext cx="1752600" cy="1752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775A4228-29F0-4AC6-8EE3-E72DA607FD95}"/>
                </a:ext>
              </a:extLst>
            </p:cNvPr>
            <p:cNvSpPr/>
            <p:nvPr/>
          </p:nvSpPr>
          <p:spPr>
            <a:xfrm>
              <a:off x="5363925" y="3860800"/>
              <a:ext cx="15823473" cy="2348795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69349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17" name="TextBox 17"/>
          <p:cNvSpPr txBox="1"/>
          <p:nvPr/>
        </p:nvSpPr>
        <p:spPr>
          <a:xfrm>
            <a:off x="1739900" y="1217164"/>
            <a:ext cx="174625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ko-KR" altLang="en-US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실패 이유</a:t>
            </a:r>
            <a:endParaRPr lang="en-US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05EE253D-BC0A-4D1D-A607-2DC342A345F8}"/>
              </a:ext>
            </a:extLst>
          </p:cNvPr>
          <p:cNvSpPr txBox="1"/>
          <p:nvPr/>
        </p:nvSpPr>
        <p:spPr>
          <a:xfrm>
            <a:off x="1639923" y="4496596"/>
            <a:ext cx="21053355" cy="25236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99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💡</a:t>
            </a:r>
            <a:r>
              <a:rPr lang="en-US" altLang="ko-KR" sz="88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,</a:t>
            </a:r>
            <a:r>
              <a:rPr lang="ko-KR" altLang="en-US" sz="8800" spc="-200" dirty="0">
                <a:solidFill>
                  <a:srgbClr val="C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ko-KR" altLang="en-US" sz="199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⏱️</a:t>
            </a:r>
            <a:r>
              <a:rPr lang="ko-KR" altLang="en-US" sz="8800" spc="-200" dirty="0">
                <a:solidFill>
                  <a:srgbClr val="C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ko-KR" altLang="en-US" sz="13800" spc="-200" dirty="0">
                <a:solidFill>
                  <a:srgbClr val="C00000"/>
                </a:solidFill>
                <a:latin typeface="Pretendard Bold"/>
                <a:ea typeface="Pretendard Bold"/>
                <a:cs typeface="Pretendard Bold"/>
              </a:rPr>
              <a:t>부족</a:t>
            </a:r>
            <a:endParaRPr lang="en-US" altLang="ko-KR" sz="8000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93102E-D8C6-4021-83DE-98388017E77E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- 9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-  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90874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3839" y="-1568450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28" name="Picture 4">
            <a:extLst>
              <a:ext uri="{FF2B5EF4-FFF2-40B4-BE49-F238E27FC236}">
                <a16:creationId xmlns:a16="http://schemas.microsoft.com/office/drawing/2014/main" id="{669A76E8-654B-4F23-9659-3AC3559EF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29" name="TextBox 17">
            <a:extLst>
              <a:ext uri="{FF2B5EF4-FFF2-40B4-BE49-F238E27FC236}">
                <a16:creationId xmlns:a16="http://schemas.microsoft.com/office/drawing/2014/main" id="{6863D0BE-768E-4C8A-9210-5853BABACF07}"/>
              </a:ext>
            </a:extLst>
          </p:cNvPr>
          <p:cNvSpPr txBox="1"/>
          <p:nvPr/>
        </p:nvSpPr>
        <p:spPr>
          <a:xfrm>
            <a:off x="1739899" y="1217164"/>
            <a:ext cx="220345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1</a:t>
            </a:r>
            <a:r>
              <a:rPr lang="ko-KR" altLang="en-US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인 </a:t>
            </a:r>
            <a:r>
              <a:rPr lang="ko-KR" altLang="en-US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스트리머의</a:t>
            </a:r>
            <a:r>
              <a:rPr lang="ko-KR" altLang="en-US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어려움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7F7860C-6528-4ADC-921F-6AEDCE47ACBF}"/>
              </a:ext>
            </a:extLst>
          </p:cNvPr>
          <p:cNvSpPr/>
          <p:nvPr/>
        </p:nvSpPr>
        <p:spPr>
          <a:xfrm>
            <a:off x="8128779" y="5575855"/>
            <a:ext cx="2586545" cy="773591"/>
          </a:xfrm>
          <a:prstGeom prst="roundRect">
            <a:avLst/>
          </a:prstGeom>
          <a:solidFill>
            <a:srgbClr val="001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SemiBold" panose="020B0600000101010101" charset="-127"/>
                <a:ea typeface="Pretendard SemiBold" panose="020B0600000101010101" charset="-127"/>
                <a:cs typeface="+mn-cs"/>
              </a:rPr>
              <a:t>방송 전</a:t>
            </a:r>
            <a:endParaRPr kumimoji="0" lang="ko-KR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 SemiBold" panose="020B0600000101010101" charset="-127"/>
              <a:ea typeface="Pretendard SemiBold" panose="020B0600000101010101" charset="-127"/>
              <a:cs typeface="+mn-cs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C4BBDBD0-C570-4F85-A770-531FB2C63A07}"/>
              </a:ext>
            </a:extLst>
          </p:cNvPr>
          <p:cNvSpPr/>
          <p:nvPr/>
        </p:nvSpPr>
        <p:spPr>
          <a:xfrm>
            <a:off x="12960641" y="5575855"/>
            <a:ext cx="2586545" cy="773591"/>
          </a:xfrm>
          <a:prstGeom prst="roundRect">
            <a:avLst/>
          </a:prstGeom>
          <a:solidFill>
            <a:srgbClr val="001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SemiBold" panose="020B0600000101010101" charset="-127"/>
                <a:ea typeface="Pretendard SemiBold" panose="020B0600000101010101" charset="-127"/>
                <a:cs typeface="+mn-cs"/>
              </a:rPr>
              <a:t>방송 중</a:t>
            </a:r>
            <a:endParaRPr kumimoji="0" lang="ko-KR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 SemiBold" panose="020B0600000101010101" charset="-127"/>
              <a:ea typeface="Pretendard SemiBold" panose="020B0600000101010101" charset="-127"/>
              <a:cs typeface="+mn-cs"/>
            </a:endParaRP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B8260F7B-129D-48FE-ADC1-6A5D15F2A2CE}"/>
              </a:ext>
            </a:extLst>
          </p:cNvPr>
          <p:cNvSpPr/>
          <p:nvPr/>
        </p:nvSpPr>
        <p:spPr>
          <a:xfrm>
            <a:off x="17754356" y="5575855"/>
            <a:ext cx="2586545" cy="773591"/>
          </a:xfrm>
          <a:prstGeom prst="roundRect">
            <a:avLst/>
          </a:prstGeom>
          <a:solidFill>
            <a:srgbClr val="001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SemiBold" panose="020B0600000101010101" charset="-127"/>
                <a:ea typeface="Pretendard SemiBold" panose="020B0600000101010101" charset="-127"/>
                <a:cs typeface="+mn-cs"/>
              </a:rPr>
              <a:t>방송 후</a:t>
            </a:r>
            <a:endParaRPr kumimoji="0" lang="ko-KR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 SemiBold" panose="020B0600000101010101" charset="-127"/>
              <a:ea typeface="Pretendard SemiBold" panose="020B0600000101010101" charset="-127"/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2AC58BD-6B06-4F0B-9044-ED1406B596FB}"/>
              </a:ext>
            </a:extLst>
          </p:cNvPr>
          <p:cNvSpPr txBox="1"/>
          <p:nvPr/>
        </p:nvSpPr>
        <p:spPr>
          <a:xfrm>
            <a:off x="7999338" y="7095970"/>
            <a:ext cx="3664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콘텐츠 조사 및 기획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6895371-4A22-4FAC-BC67-0D5314ACC32F}"/>
              </a:ext>
            </a:extLst>
          </p:cNvPr>
          <p:cNvSpPr txBox="1"/>
          <p:nvPr/>
        </p:nvSpPr>
        <p:spPr>
          <a:xfrm>
            <a:off x="7999338" y="7960887"/>
            <a:ext cx="3968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방송 장비</a:t>
            </a:r>
            <a:r>
              <a:rPr lang="en-US" altLang="ko-KR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송출</a:t>
            </a:r>
            <a:r>
              <a:rPr lang="en-US" altLang="ko-KR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조명 세팅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ED7E340-A063-47DE-8DA9-88894EE634C8}"/>
              </a:ext>
            </a:extLst>
          </p:cNvPr>
          <p:cNvSpPr txBox="1"/>
          <p:nvPr/>
        </p:nvSpPr>
        <p:spPr>
          <a:xfrm>
            <a:off x="7999338" y="8825804"/>
            <a:ext cx="3664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방송 공지 및 마케팅 활동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FB7100D-8532-4516-8BA4-655D30F0C0E7}"/>
              </a:ext>
            </a:extLst>
          </p:cNvPr>
          <p:cNvSpPr txBox="1"/>
          <p:nvPr/>
        </p:nvSpPr>
        <p:spPr>
          <a:xfrm>
            <a:off x="12876847" y="7095970"/>
            <a:ext cx="3664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 err="1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채팅창</a:t>
            </a:r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관리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ABE16A6-8115-4F8C-BEBC-E8A4CC50A346}"/>
              </a:ext>
            </a:extLst>
          </p:cNvPr>
          <p:cNvSpPr txBox="1"/>
          <p:nvPr/>
        </p:nvSpPr>
        <p:spPr>
          <a:xfrm>
            <a:off x="12876847" y="7960887"/>
            <a:ext cx="3968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콘텐츠 운영 및 </a:t>
            </a:r>
            <a:r>
              <a:rPr lang="ko-KR" altLang="en-US" sz="2800" b="1" dirty="0" err="1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리액션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F90795C-C256-436A-8249-1CA237C79331}"/>
              </a:ext>
            </a:extLst>
          </p:cNvPr>
          <p:cNvSpPr txBox="1"/>
          <p:nvPr/>
        </p:nvSpPr>
        <p:spPr>
          <a:xfrm>
            <a:off x="12876847" y="8825804"/>
            <a:ext cx="3664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방송 공지 및 마케팅 활동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E1E128A-0BB2-4B76-9F56-F2792980F042}"/>
              </a:ext>
            </a:extLst>
          </p:cNvPr>
          <p:cNvSpPr txBox="1"/>
          <p:nvPr/>
        </p:nvSpPr>
        <p:spPr>
          <a:xfrm>
            <a:off x="17661572" y="7095970"/>
            <a:ext cx="3664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다시 보기 및 </a:t>
            </a:r>
            <a:r>
              <a:rPr lang="ko-KR" altLang="en-US" sz="2800" b="1" dirty="0" err="1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숏폼</a:t>
            </a:r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제작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09CBA94-6D9B-49A8-BA89-CB374E5DCDB5}"/>
              </a:ext>
            </a:extLst>
          </p:cNvPr>
          <p:cNvSpPr txBox="1"/>
          <p:nvPr/>
        </p:nvSpPr>
        <p:spPr>
          <a:xfrm>
            <a:off x="17661572" y="7960887"/>
            <a:ext cx="3968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방송 리뷰 및 반응 분석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B738BF6-7D86-4CDD-9F1A-1537728E0658}"/>
              </a:ext>
            </a:extLst>
          </p:cNvPr>
          <p:cNvSpPr txBox="1"/>
          <p:nvPr/>
        </p:nvSpPr>
        <p:spPr>
          <a:xfrm>
            <a:off x="17661572" y="8825804"/>
            <a:ext cx="3664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커뮤니티 관리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CD220C28-BCDF-41FC-AC33-6D07F73B0E1F}"/>
              </a:ext>
            </a:extLst>
          </p:cNvPr>
          <p:cNvSpPr/>
          <p:nvPr/>
        </p:nvSpPr>
        <p:spPr>
          <a:xfrm>
            <a:off x="3578504" y="5962650"/>
            <a:ext cx="2863850" cy="2863850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B52D94D-9FF3-44A6-B184-474FC4D8373E}"/>
              </a:ext>
            </a:extLst>
          </p:cNvPr>
          <p:cNvSpPr txBox="1"/>
          <p:nvPr/>
        </p:nvSpPr>
        <p:spPr>
          <a:xfrm>
            <a:off x="3140434" y="9123542"/>
            <a:ext cx="36643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</a:rPr>
              <a:t>1</a:t>
            </a:r>
            <a:r>
              <a:rPr lang="ko-KR" altLang="en-US" sz="2400" b="1" dirty="0">
                <a:solidFill>
                  <a:schemeClr val="bg1">
                    <a:lumMod val="50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인 </a:t>
            </a:r>
            <a:r>
              <a:rPr lang="ko-KR" altLang="en-US" sz="2400" b="1" dirty="0" err="1">
                <a:solidFill>
                  <a:schemeClr val="bg1">
                    <a:lumMod val="50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</a:rPr>
              <a:t>스트리머</a:t>
            </a:r>
            <a:endParaRPr lang="en-US" altLang="ko-KR" sz="2400" b="1" dirty="0">
              <a:solidFill>
                <a:schemeClr val="bg1">
                  <a:lumMod val="50000"/>
                </a:schemeClr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24253531-B184-47BC-88FA-88312DB5935E}"/>
              </a:ext>
            </a:extLst>
          </p:cNvPr>
          <p:cNvCxnSpPr>
            <a:cxnSpLocks/>
          </p:cNvCxnSpPr>
          <p:nvPr/>
        </p:nvCxnSpPr>
        <p:spPr>
          <a:xfrm>
            <a:off x="11095156" y="5959134"/>
            <a:ext cx="1503550" cy="0"/>
          </a:xfrm>
          <a:prstGeom prst="straightConnector1">
            <a:avLst/>
          </a:prstGeom>
          <a:ln w="44450"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737CD672-FC4D-4159-80C3-222D5C20895C}"/>
              </a:ext>
            </a:extLst>
          </p:cNvPr>
          <p:cNvCxnSpPr>
            <a:cxnSpLocks/>
          </p:cNvCxnSpPr>
          <p:nvPr/>
        </p:nvCxnSpPr>
        <p:spPr>
          <a:xfrm>
            <a:off x="15920492" y="5959134"/>
            <a:ext cx="1503550" cy="0"/>
          </a:xfrm>
          <a:prstGeom prst="straightConnector1">
            <a:avLst/>
          </a:prstGeom>
          <a:ln w="44450"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24C729E-DD0E-01E2-176C-A7E8060290FF}"/>
              </a:ext>
            </a:extLst>
          </p:cNvPr>
          <p:cNvSpPr txBox="1"/>
          <p:nvPr/>
        </p:nvSpPr>
        <p:spPr>
          <a:xfrm>
            <a:off x="17661572" y="9620790"/>
            <a:ext cx="3664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마케팅 활동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78D09D-A6EA-4F83-AD35-845385D640A4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- 10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-  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1533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3839" y="-1568450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28" name="Picture 4">
            <a:extLst>
              <a:ext uri="{FF2B5EF4-FFF2-40B4-BE49-F238E27FC236}">
                <a16:creationId xmlns:a16="http://schemas.microsoft.com/office/drawing/2014/main" id="{669A76E8-654B-4F23-9659-3AC3559EF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29" name="TextBox 17">
            <a:extLst>
              <a:ext uri="{FF2B5EF4-FFF2-40B4-BE49-F238E27FC236}">
                <a16:creationId xmlns:a16="http://schemas.microsoft.com/office/drawing/2014/main" id="{6863D0BE-768E-4C8A-9210-5853BABACF07}"/>
              </a:ext>
            </a:extLst>
          </p:cNvPr>
          <p:cNvSpPr txBox="1"/>
          <p:nvPr/>
        </p:nvSpPr>
        <p:spPr>
          <a:xfrm>
            <a:off x="1739899" y="1217164"/>
            <a:ext cx="220345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1</a:t>
            </a:r>
            <a:r>
              <a:rPr lang="ko-KR" altLang="en-US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인 </a:t>
            </a:r>
            <a:r>
              <a:rPr lang="ko-KR" altLang="en-US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스트리머의</a:t>
            </a:r>
            <a:r>
              <a:rPr lang="ko-KR" altLang="en-US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어려움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7F7860C-6528-4ADC-921F-6AEDCE47ACBF}"/>
              </a:ext>
            </a:extLst>
          </p:cNvPr>
          <p:cNvSpPr/>
          <p:nvPr/>
        </p:nvSpPr>
        <p:spPr>
          <a:xfrm>
            <a:off x="8128779" y="4115909"/>
            <a:ext cx="2586545" cy="773591"/>
          </a:xfrm>
          <a:prstGeom prst="roundRect">
            <a:avLst/>
          </a:prstGeom>
          <a:solidFill>
            <a:srgbClr val="001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SemiBold" panose="020B0600000101010101" charset="-127"/>
                <a:ea typeface="Pretendard SemiBold" panose="020B0600000101010101" charset="-127"/>
                <a:cs typeface="+mn-cs"/>
              </a:rPr>
              <a:t>방송 전</a:t>
            </a:r>
            <a:endParaRPr kumimoji="0" lang="ko-KR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 SemiBold" panose="020B0600000101010101" charset="-127"/>
              <a:ea typeface="Pretendard SemiBold" panose="020B0600000101010101" charset="-127"/>
              <a:cs typeface="+mn-cs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C4BBDBD0-C570-4F85-A770-531FB2C63A07}"/>
              </a:ext>
            </a:extLst>
          </p:cNvPr>
          <p:cNvSpPr/>
          <p:nvPr/>
        </p:nvSpPr>
        <p:spPr>
          <a:xfrm>
            <a:off x="12960641" y="4115909"/>
            <a:ext cx="2586545" cy="773591"/>
          </a:xfrm>
          <a:prstGeom prst="roundRect">
            <a:avLst/>
          </a:prstGeom>
          <a:solidFill>
            <a:srgbClr val="001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SemiBold" panose="020B0600000101010101" charset="-127"/>
                <a:ea typeface="Pretendard SemiBold" panose="020B0600000101010101" charset="-127"/>
                <a:cs typeface="+mn-cs"/>
              </a:rPr>
              <a:t>방송 중</a:t>
            </a:r>
            <a:endParaRPr kumimoji="0" lang="ko-KR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 SemiBold" panose="020B0600000101010101" charset="-127"/>
              <a:ea typeface="Pretendard SemiBold" panose="020B0600000101010101" charset="-127"/>
              <a:cs typeface="+mn-cs"/>
            </a:endParaRP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B8260F7B-129D-48FE-ADC1-6A5D15F2A2CE}"/>
              </a:ext>
            </a:extLst>
          </p:cNvPr>
          <p:cNvSpPr/>
          <p:nvPr/>
        </p:nvSpPr>
        <p:spPr>
          <a:xfrm>
            <a:off x="17754356" y="4115909"/>
            <a:ext cx="2586545" cy="773591"/>
          </a:xfrm>
          <a:prstGeom prst="roundRect">
            <a:avLst/>
          </a:prstGeom>
          <a:solidFill>
            <a:srgbClr val="001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SemiBold" panose="020B0600000101010101" charset="-127"/>
                <a:ea typeface="Pretendard SemiBold" panose="020B0600000101010101" charset="-127"/>
                <a:cs typeface="+mn-cs"/>
              </a:rPr>
              <a:t>방송 후</a:t>
            </a:r>
            <a:endParaRPr kumimoji="0" lang="ko-KR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 SemiBold" panose="020B0600000101010101" charset="-127"/>
              <a:ea typeface="Pretendard SemiBold" panose="020B0600000101010101" charset="-127"/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2AC58BD-6B06-4F0B-9044-ED1406B596FB}"/>
              </a:ext>
            </a:extLst>
          </p:cNvPr>
          <p:cNvSpPr txBox="1"/>
          <p:nvPr/>
        </p:nvSpPr>
        <p:spPr>
          <a:xfrm>
            <a:off x="7999338" y="5636024"/>
            <a:ext cx="3664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콘텐츠 조사 및 기획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6895371-4A22-4FAC-BC67-0D5314ACC32F}"/>
              </a:ext>
            </a:extLst>
          </p:cNvPr>
          <p:cNvSpPr txBox="1"/>
          <p:nvPr/>
        </p:nvSpPr>
        <p:spPr>
          <a:xfrm>
            <a:off x="7999338" y="6500941"/>
            <a:ext cx="3968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방송 장비</a:t>
            </a:r>
            <a:r>
              <a:rPr lang="en-US" altLang="ko-KR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송출</a:t>
            </a:r>
            <a:r>
              <a:rPr lang="en-US" altLang="ko-KR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조명 세팅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ED7E340-A063-47DE-8DA9-88894EE634C8}"/>
              </a:ext>
            </a:extLst>
          </p:cNvPr>
          <p:cNvSpPr txBox="1"/>
          <p:nvPr/>
        </p:nvSpPr>
        <p:spPr>
          <a:xfrm>
            <a:off x="7999338" y="7365858"/>
            <a:ext cx="3664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방송 공지 및 마케팅 활동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FB7100D-8532-4516-8BA4-655D30F0C0E7}"/>
              </a:ext>
            </a:extLst>
          </p:cNvPr>
          <p:cNvSpPr txBox="1"/>
          <p:nvPr/>
        </p:nvSpPr>
        <p:spPr>
          <a:xfrm>
            <a:off x="12876847" y="5636024"/>
            <a:ext cx="3664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 err="1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채팅창</a:t>
            </a:r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관리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ABE16A6-8115-4F8C-BEBC-E8A4CC50A346}"/>
              </a:ext>
            </a:extLst>
          </p:cNvPr>
          <p:cNvSpPr txBox="1"/>
          <p:nvPr/>
        </p:nvSpPr>
        <p:spPr>
          <a:xfrm>
            <a:off x="12876847" y="6500941"/>
            <a:ext cx="3968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콘텐츠 운영 및 </a:t>
            </a:r>
            <a:r>
              <a:rPr lang="ko-KR" altLang="en-US" sz="2800" b="1" dirty="0" err="1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리액션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F90795C-C256-436A-8249-1CA237C79331}"/>
              </a:ext>
            </a:extLst>
          </p:cNvPr>
          <p:cNvSpPr txBox="1"/>
          <p:nvPr/>
        </p:nvSpPr>
        <p:spPr>
          <a:xfrm>
            <a:off x="12876847" y="7365858"/>
            <a:ext cx="3664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방송 공지 및 마케팅 활동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E1E128A-0BB2-4B76-9F56-F2792980F042}"/>
              </a:ext>
            </a:extLst>
          </p:cNvPr>
          <p:cNvSpPr txBox="1"/>
          <p:nvPr/>
        </p:nvSpPr>
        <p:spPr>
          <a:xfrm>
            <a:off x="17661572" y="5636024"/>
            <a:ext cx="3664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다시 보기 및 </a:t>
            </a:r>
            <a:r>
              <a:rPr lang="ko-KR" altLang="en-US" sz="2800" b="1" dirty="0" err="1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숏폼</a:t>
            </a:r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제작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09CBA94-6D9B-49A8-BA89-CB374E5DCDB5}"/>
              </a:ext>
            </a:extLst>
          </p:cNvPr>
          <p:cNvSpPr txBox="1"/>
          <p:nvPr/>
        </p:nvSpPr>
        <p:spPr>
          <a:xfrm>
            <a:off x="17661572" y="6500941"/>
            <a:ext cx="3968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방송 리뷰 및 반응 분석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B738BF6-7D86-4CDD-9F1A-1537728E0658}"/>
              </a:ext>
            </a:extLst>
          </p:cNvPr>
          <p:cNvSpPr txBox="1"/>
          <p:nvPr/>
        </p:nvSpPr>
        <p:spPr>
          <a:xfrm>
            <a:off x="17661572" y="7365858"/>
            <a:ext cx="3664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커뮤니티 관리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CD220C28-BCDF-41FC-AC33-6D07F73B0E1F}"/>
              </a:ext>
            </a:extLst>
          </p:cNvPr>
          <p:cNvSpPr/>
          <p:nvPr/>
        </p:nvSpPr>
        <p:spPr>
          <a:xfrm>
            <a:off x="3578504" y="4502704"/>
            <a:ext cx="2863850" cy="2863850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B52D94D-9FF3-44A6-B184-474FC4D8373E}"/>
              </a:ext>
            </a:extLst>
          </p:cNvPr>
          <p:cNvSpPr txBox="1"/>
          <p:nvPr/>
        </p:nvSpPr>
        <p:spPr>
          <a:xfrm>
            <a:off x="3140434" y="7663596"/>
            <a:ext cx="36643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</a:rPr>
              <a:t>1</a:t>
            </a:r>
            <a:r>
              <a:rPr lang="ko-KR" altLang="en-US" sz="2400" b="1" dirty="0">
                <a:solidFill>
                  <a:schemeClr val="bg1">
                    <a:lumMod val="50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인 </a:t>
            </a:r>
            <a:r>
              <a:rPr lang="ko-KR" altLang="en-US" sz="2400" b="1" dirty="0" err="1">
                <a:solidFill>
                  <a:schemeClr val="bg1">
                    <a:lumMod val="50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</a:rPr>
              <a:t>스트리머</a:t>
            </a:r>
            <a:endParaRPr lang="en-US" altLang="ko-KR" sz="2400" b="1" dirty="0">
              <a:solidFill>
                <a:schemeClr val="bg1">
                  <a:lumMod val="50000"/>
                </a:schemeClr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24253531-B184-47BC-88FA-88312DB5935E}"/>
              </a:ext>
            </a:extLst>
          </p:cNvPr>
          <p:cNvCxnSpPr>
            <a:cxnSpLocks/>
          </p:cNvCxnSpPr>
          <p:nvPr/>
        </p:nvCxnSpPr>
        <p:spPr>
          <a:xfrm>
            <a:off x="11095156" y="4499188"/>
            <a:ext cx="1503550" cy="0"/>
          </a:xfrm>
          <a:prstGeom prst="straightConnector1">
            <a:avLst/>
          </a:prstGeom>
          <a:ln w="44450"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737CD672-FC4D-4159-80C3-222D5C20895C}"/>
              </a:ext>
            </a:extLst>
          </p:cNvPr>
          <p:cNvCxnSpPr>
            <a:cxnSpLocks/>
          </p:cNvCxnSpPr>
          <p:nvPr/>
        </p:nvCxnSpPr>
        <p:spPr>
          <a:xfrm>
            <a:off x="15920492" y="4499188"/>
            <a:ext cx="1503550" cy="0"/>
          </a:xfrm>
          <a:prstGeom prst="straightConnector1">
            <a:avLst/>
          </a:prstGeom>
          <a:ln w="44450"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24C729E-DD0E-01E2-176C-A7E8060290FF}"/>
              </a:ext>
            </a:extLst>
          </p:cNvPr>
          <p:cNvSpPr txBox="1"/>
          <p:nvPr/>
        </p:nvSpPr>
        <p:spPr>
          <a:xfrm>
            <a:off x="17661572" y="8160844"/>
            <a:ext cx="3664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마케팅 활동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04ADF442-BEB5-4DA4-BEEE-C83DAC0E0246}"/>
              </a:ext>
            </a:extLst>
          </p:cNvPr>
          <p:cNvSpPr/>
          <p:nvPr/>
        </p:nvSpPr>
        <p:spPr>
          <a:xfrm>
            <a:off x="6172200" y="10007600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4400" b="1" dirty="0">
                <a:solidFill>
                  <a:srgbClr val="3E68FF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기획자</a:t>
            </a:r>
            <a:endParaRPr lang="en-US" sz="4400" dirty="0">
              <a:solidFill>
                <a:srgbClr val="3E68FF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5D29B07C-4C76-4131-ACF8-0C4ACE6F27C1}"/>
              </a:ext>
            </a:extLst>
          </p:cNvPr>
          <p:cNvSpPr/>
          <p:nvPr/>
        </p:nvSpPr>
        <p:spPr>
          <a:xfrm>
            <a:off x="10827070" y="10007600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 err="1">
                <a:solidFill>
                  <a:srgbClr val="3E68FF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매니저</a:t>
            </a:r>
            <a:endParaRPr lang="en-US" sz="4400" dirty="0">
              <a:solidFill>
                <a:srgbClr val="3E68FF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ECF0B666-0C68-4F32-975D-D56161BE4B8B}"/>
              </a:ext>
            </a:extLst>
          </p:cNvPr>
          <p:cNvSpPr/>
          <p:nvPr/>
        </p:nvSpPr>
        <p:spPr>
          <a:xfrm>
            <a:off x="15773400" y="10007600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4400" b="1" dirty="0">
                <a:solidFill>
                  <a:srgbClr val="3E68FF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편집자</a:t>
            </a:r>
            <a:r>
              <a:rPr lang="en-US" altLang="ko-KR" sz="4400" b="1" dirty="0">
                <a:solidFill>
                  <a:srgbClr val="3E68FF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, </a:t>
            </a:r>
            <a:r>
              <a:rPr lang="ko-KR" altLang="en-US" sz="4400" b="1" dirty="0">
                <a:solidFill>
                  <a:srgbClr val="3E68FF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마케터</a:t>
            </a:r>
            <a:endParaRPr lang="en-US" sz="4400" dirty="0">
              <a:solidFill>
                <a:srgbClr val="3E68FF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7C7B1661-18A5-4189-AE13-6E75DD05B66F}"/>
              </a:ext>
            </a:extLst>
          </p:cNvPr>
          <p:cNvSpPr/>
          <p:nvPr/>
        </p:nvSpPr>
        <p:spPr>
          <a:xfrm>
            <a:off x="9136649" y="9067800"/>
            <a:ext cx="1195161" cy="939800"/>
          </a:xfrm>
          <a:prstGeom prst="downArrow">
            <a:avLst/>
          </a:prstGeom>
          <a:gradFill>
            <a:gsLst>
              <a:gs pos="0">
                <a:srgbClr val="FFFFFF"/>
              </a:gs>
              <a:gs pos="100000">
                <a:srgbClr val="2E5B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화살표: 아래쪽 26">
            <a:extLst>
              <a:ext uri="{FF2B5EF4-FFF2-40B4-BE49-F238E27FC236}">
                <a16:creationId xmlns:a16="http://schemas.microsoft.com/office/drawing/2014/main" id="{5F2BEB90-4143-43F9-81E9-49084AF33A7F}"/>
              </a:ext>
            </a:extLst>
          </p:cNvPr>
          <p:cNvSpPr/>
          <p:nvPr/>
        </p:nvSpPr>
        <p:spPr>
          <a:xfrm>
            <a:off x="13656332" y="9067800"/>
            <a:ext cx="1195161" cy="939800"/>
          </a:xfrm>
          <a:prstGeom prst="downArrow">
            <a:avLst/>
          </a:prstGeom>
          <a:gradFill>
            <a:gsLst>
              <a:gs pos="0">
                <a:srgbClr val="D5E1EF"/>
              </a:gs>
              <a:gs pos="100000">
                <a:srgbClr val="2E5B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화살표: 아래쪽 32">
            <a:extLst>
              <a:ext uri="{FF2B5EF4-FFF2-40B4-BE49-F238E27FC236}">
                <a16:creationId xmlns:a16="http://schemas.microsoft.com/office/drawing/2014/main" id="{F567C2BB-D5BC-45A6-8156-DBFDD1A6A015}"/>
              </a:ext>
            </a:extLst>
          </p:cNvPr>
          <p:cNvSpPr/>
          <p:nvPr/>
        </p:nvSpPr>
        <p:spPr>
          <a:xfrm>
            <a:off x="18540999" y="9067800"/>
            <a:ext cx="1195161" cy="939800"/>
          </a:xfrm>
          <a:prstGeom prst="downArrow">
            <a:avLst/>
          </a:prstGeom>
          <a:gradFill>
            <a:gsLst>
              <a:gs pos="0">
                <a:srgbClr val="D5E1EF"/>
              </a:gs>
              <a:gs pos="100000">
                <a:srgbClr val="2E5B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274FAA4-B108-40E7-8043-56A6B50C0D34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-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11 -  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31647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4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3839" y="-1568450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28" name="Picture 4">
            <a:extLst>
              <a:ext uri="{FF2B5EF4-FFF2-40B4-BE49-F238E27FC236}">
                <a16:creationId xmlns:a16="http://schemas.microsoft.com/office/drawing/2014/main" id="{669A76E8-654B-4F23-9659-3AC3559EF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AFBB95F-A9F4-4D55-85DC-527E804E559E}"/>
              </a:ext>
            </a:extLst>
          </p:cNvPr>
          <p:cNvSpPr/>
          <p:nvPr/>
        </p:nvSpPr>
        <p:spPr>
          <a:xfrm>
            <a:off x="11968280" y="3581400"/>
            <a:ext cx="9824920" cy="8242299"/>
          </a:xfrm>
          <a:prstGeom prst="roundRect">
            <a:avLst>
              <a:gd name="adj" fmla="val 3752"/>
            </a:avLst>
          </a:prstGeom>
          <a:solidFill>
            <a:schemeClr val="accent1">
              <a:alpha val="2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17">
            <a:extLst>
              <a:ext uri="{FF2B5EF4-FFF2-40B4-BE49-F238E27FC236}">
                <a16:creationId xmlns:a16="http://schemas.microsoft.com/office/drawing/2014/main" id="{6863D0BE-768E-4C8A-9210-5853BABACF07}"/>
              </a:ext>
            </a:extLst>
          </p:cNvPr>
          <p:cNvSpPr txBox="1"/>
          <p:nvPr/>
        </p:nvSpPr>
        <p:spPr>
          <a:xfrm>
            <a:off x="1739899" y="1217164"/>
            <a:ext cx="220345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1</a:t>
            </a:r>
            <a:r>
              <a:rPr lang="ko-KR" altLang="en-US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인 </a:t>
            </a:r>
            <a:r>
              <a:rPr lang="ko-KR" altLang="en-US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스트리머의</a:t>
            </a:r>
            <a:r>
              <a:rPr lang="ko-KR" altLang="en-US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어려움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7F7860C-6528-4ADC-921F-6AEDCE47ACBF}"/>
              </a:ext>
            </a:extLst>
          </p:cNvPr>
          <p:cNvSpPr/>
          <p:nvPr/>
        </p:nvSpPr>
        <p:spPr>
          <a:xfrm>
            <a:off x="8128779" y="4115909"/>
            <a:ext cx="2586545" cy="773591"/>
          </a:xfrm>
          <a:prstGeom prst="roundRect">
            <a:avLst/>
          </a:prstGeom>
          <a:solidFill>
            <a:srgbClr val="001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SemiBold" panose="020B0600000101010101" charset="-127"/>
                <a:ea typeface="Pretendard SemiBold" panose="020B0600000101010101" charset="-127"/>
                <a:cs typeface="+mn-cs"/>
              </a:rPr>
              <a:t>방송 전</a:t>
            </a:r>
            <a:endParaRPr kumimoji="0" lang="ko-KR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 SemiBold" panose="020B0600000101010101" charset="-127"/>
              <a:ea typeface="Pretendard SemiBold" panose="020B0600000101010101" charset="-127"/>
              <a:cs typeface="+mn-cs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C4BBDBD0-C570-4F85-A770-531FB2C63A07}"/>
              </a:ext>
            </a:extLst>
          </p:cNvPr>
          <p:cNvSpPr/>
          <p:nvPr/>
        </p:nvSpPr>
        <p:spPr>
          <a:xfrm>
            <a:off x="12960641" y="4115909"/>
            <a:ext cx="2586545" cy="773591"/>
          </a:xfrm>
          <a:prstGeom prst="roundRect">
            <a:avLst/>
          </a:prstGeom>
          <a:solidFill>
            <a:srgbClr val="001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SemiBold" panose="020B0600000101010101" charset="-127"/>
                <a:ea typeface="Pretendard SemiBold" panose="020B0600000101010101" charset="-127"/>
                <a:cs typeface="+mn-cs"/>
              </a:rPr>
              <a:t>방송 중</a:t>
            </a:r>
            <a:endParaRPr kumimoji="0" lang="ko-KR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 SemiBold" panose="020B0600000101010101" charset="-127"/>
              <a:ea typeface="Pretendard SemiBold" panose="020B0600000101010101" charset="-127"/>
              <a:cs typeface="+mn-cs"/>
            </a:endParaRP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B8260F7B-129D-48FE-ADC1-6A5D15F2A2CE}"/>
              </a:ext>
            </a:extLst>
          </p:cNvPr>
          <p:cNvSpPr/>
          <p:nvPr/>
        </p:nvSpPr>
        <p:spPr>
          <a:xfrm>
            <a:off x="17754356" y="4115909"/>
            <a:ext cx="2586545" cy="773591"/>
          </a:xfrm>
          <a:prstGeom prst="roundRect">
            <a:avLst/>
          </a:prstGeom>
          <a:solidFill>
            <a:srgbClr val="001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SemiBold" panose="020B0600000101010101" charset="-127"/>
                <a:ea typeface="Pretendard SemiBold" panose="020B0600000101010101" charset="-127"/>
                <a:cs typeface="+mn-cs"/>
              </a:rPr>
              <a:t>방송 후</a:t>
            </a:r>
            <a:endParaRPr kumimoji="0" lang="ko-KR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 SemiBold" panose="020B0600000101010101" charset="-127"/>
              <a:ea typeface="Pretendard SemiBold" panose="020B0600000101010101" charset="-127"/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2AC58BD-6B06-4F0B-9044-ED1406B596FB}"/>
              </a:ext>
            </a:extLst>
          </p:cNvPr>
          <p:cNvSpPr txBox="1"/>
          <p:nvPr/>
        </p:nvSpPr>
        <p:spPr>
          <a:xfrm>
            <a:off x="7999338" y="5636024"/>
            <a:ext cx="3664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콘텐츠 조사 및 기획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6895371-4A22-4FAC-BC67-0D5314ACC32F}"/>
              </a:ext>
            </a:extLst>
          </p:cNvPr>
          <p:cNvSpPr txBox="1"/>
          <p:nvPr/>
        </p:nvSpPr>
        <p:spPr>
          <a:xfrm>
            <a:off x="7999338" y="6500941"/>
            <a:ext cx="3968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방송 장비</a:t>
            </a:r>
            <a:r>
              <a:rPr lang="en-US" altLang="ko-KR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송출</a:t>
            </a:r>
            <a:r>
              <a:rPr lang="en-US" altLang="ko-KR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조명 세팅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ED7E340-A063-47DE-8DA9-88894EE634C8}"/>
              </a:ext>
            </a:extLst>
          </p:cNvPr>
          <p:cNvSpPr txBox="1"/>
          <p:nvPr/>
        </p:nvSpPr>
        <p:spPr>
          <a:xfrm>
            <a:off x="7999338" y="7365858"/>
            <a:ext cx="3664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방송 공지 및 마케팅 활동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FB7100D-8532-4516-8BA4-655D30F0C0E7}"/>
              </a:ext>
            </a:extLst>
          </p:cNvPr>
          <p:cNvSpPr txBox="1"/>
          <p:nvPr/>
        </p:nvSpPr>
        <p:spPr>
          <a:xfrm>
            <a:off x="12876847" y="5636024"/>
            <a:ext cx="3664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 err="1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채팅창</a:t>
            </a:r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관리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ABE16A6-8115-4F8C-BEBC-E8A4CC50A346}"/>
              </a:ext>
            </a:extLst>
          </p:cNvPr>
          <p:cNvSpPr txBox="1"/>
          <p:nvPr/>
        </p:nvSpPr>
        <p:spPr>
          <a:xfrm>
            <a:off x="12876847" y="6500941"/>
            <a:ext cx="3968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콘텐츠 운영 및 </a:t>
            </a:r>
            <a:r>
              <a:rPr lang="ko-KR" altLang="en-US" sz="2800" b="1" dirty="0" err="1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리액션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F90795C-C256-436A-8249-1CA237C79331}"/>
              </a:ext>
            </a:extLst>
          </p:cNvPr>
          <p:cNvSpPr txBox="1"/>
          <p:nvPr/>
        </p:nvSpPr>
        <p:spPr>
          <a:xfrm>
            <a:off x="12876847" y="7365858"/>
            <a:ext cx="3664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방송 공지 및 마케팅 활동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E1E128A-0BB2-4B76-9F56-F2792980F042}"/>
              </a:ext>
            </a:extLst>
          </p:cNvPr>
          <p:cNvSpPr txBox="1"/>
          <p:nvPr/>
        </p:nvSpPr>
        <p:spPr>
          <a:xfrm>
            <a:off x="17661572" y="5636024"/>
            <a:ext cx="3664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다시 보기 및 </a:t>
            </a:r>
            <a:r>
              <a:rPr lang="ko-KR" altLang="en-US" sz="2800" b="1" dirty="0" err="1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숏폼</a:t>
            </a:r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제작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09CBA94-6D9B-49A8-BA89-CB374E5DCDB5}"/>
              </a:ext>
            </a:extLst>
          </p:cNvPr>
          <p:cNvSpPr txBox="1"/>
          <p:nvPr/>
        </p:nvSpPr>
        <p:spPr>
          <a:xfrm>
            <a:off x="17661572" y="6500941"/>
            <a:ext cx="3968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방송 리뷰 및 반응 분석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B738BF6-7D86-4CDD-9F1A-1537728E0658}"/>
              </a:ext>
            </a:extLst>
          </p:cNvPr>
          <p:cNvSpPr txBox="1"/>
          <p:nvPr/>
        </p:nvSpPr>
        <p:spPr>
          <a:xfrm>
            <a:off x="17661572" y="7365858"/>
            <a:ext cx="3664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커뮤니티 관리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CD220C28-BCDF-41FC-AC33-6D07F73B0E1F}"/>
              </a:ext>
            </a:extLst>
          </p:cNvPr>
          <p:cNvSpPr/>
          <p:nvPr/>
        </p:nvSpPr>
        <p:spPr>
          <a:xfrm>
            <a:off x="3578504" y="4502704"/>
            <a:ext cx="2863850" cy="2863850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B52D94D-9FF3-44A6-B184-474FC4D8373E}"/>
              </a:ext>
            </a:extLst>
          </p:cNvPr>
          <p:cNvSpPr txBox="1"/>
          <p:nvPr/>
        </p:nvSpPr>
        <p:spPr>
          <a:xfrm>
            <a:off x="3140434" y="7663596"/>
            <a:ext cx="36643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</a:rPr>
              <a:t>1</a:t>
            </a:r>
            <a:r>
              <a:rPr lang="ko-KR" altLang="en-US" sz="2400" b="1" dirty="0">
                <a:solidFill>
                  <a:schemeClr val="bg1">
                    <a:lumMod val="50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인 </a:t>
            </a:r>
            <a:r>
              <a:rPr lang="ko-KR" altLang="en-US" sz="2400" b="1" dirty="0" err="1">
                <a:solidFill>
                  <a:schemeClr val="bg1">
                    <a:lumMod val="50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</a:rPr>
              <a:t>스트리머</a:t>
            </a:r>
            <a:endParaRPr lang="en-US" altLang="ko-KR" sz="2400" b="1" dirty="0">
              <a:solidFill>
                <a:schemeClr val="bg1">
                  <a:lumMod val="50000"/>
                </a:schemeClr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24253531-B184-47BC-88FA-88312DB5935E}"/>
              </a:ext>
            </a:extLst>
          </p:cNvPr>
          <p:cNvCxnSpPr>
            <a:cxnSpLocks/>
          </p:cNvCxnSpPr>
          <p:nvPr/>
        </p:nvCxnSpPr>
        <p:spPr>
          <a:xfrm>
            <a:off x="11095156" y="4499188"/>
            <a:ext cx="1503550" cy="0"/>
          </a:xfrm>
          <a:prstGeom prst="straightConnector1">
            <a:avLst/>
          </a:prstGeom>
          <a:ln w="44450"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737CD672-FC4D-4159-80C3-222D5C20895C}"/>
              </a:ext>
            </a:extLst>
          </p:cNvPr>
          <p:cNvCxnSpPr>
            <a:cxnSpLocks/>
          </p:cNvCxnSpPr>
          <p:nvPr/>
        </p:nvCxnSpPr>
        <p:spPr>
          <a:xfrm>
            <a:off x="15920492" y="4499188"/>
            <a:ext cx="1503550" cy="0"/>
          </a:xfrm>
          <a:prstGeom prst="straightConnector1">
            <a:avLst/>
          </a:prstGeom>
          <a:ln w="44450"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24C729E-DD0E-01E2-176C-A7E8060290FF}"/>
              </a:ext>
            </a:extLst>
          </p:cNvPr>
          <p:cNvSpPr txBox="1"/>
          <p:nvPr/>
        </p:nvSpPr>
        <p:spPr>
          <a:xfrm>
            <a:off x="17661572" y="8160844"/>
            <a:ext cx="3664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1D67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마케팅 활동</a:t>
            </a:r>
            <a:endParaRPr lang="en-US" altLang="ko-KR" sz="2800" b="1" dirty="0">
              <a:solidFill>
                <a:srgbClr val="001D67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04ADF442-BEB5-4DA4-BEEE-C83DAC0E0246}"/>
              </a:ext>
            </a:extLst>
          </p:cNvPr>
          <p:cNvSpPr/>
          <p:nvPr/>
        </p:nvSpPr>
        <p:spPr>
          <a:xfrm>
            <a:off x="6172200" y="10007600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4400" b="1" dirty="0">
                <a:solidFill>
                  <a:srgbClr val="3E68FF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기획자</a:t>
            </a:r>
            <a:endParaRPr lang="en-US" sz="4400" dirty="0">
              <a:solidFill>
                <a:srgbClr val="3E68FF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5D29B07C-4C76-4131-ACF8-0C4ACE6F27C1}"/>
              </a:ext>
            </a:extLst>
          </p:cNvPr>
          <p:cNvSpPr/>
          <p:nvPr/>
        </p:nvSpPr>
        <p:spPr>
          <a:xfrm>
            <a:off x="10827070" y="10007600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 err="1">
                <a:solidFill>
                  <a:srgbClr val="3E68FF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매니저</a:t>
            </a:r>
            <a:endParaRPr lang="en-US" sz="4400" dirty="0">
              <a:solidFill>
                <a:srgbClr val="3E68FF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ECF0B666-0C68-4F32-975D-D56161BE4B8B}"/>
              </a:ext>
            </a:extLst>
          </p:cNvPr>
          <p:cNvSpPr/>
          <p:nvPr/>
        </p:nvSpPr>
        <p:spPr>
          <a:xfrm>
            <a:off x="15773400" y="10007600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4400" b="1" dirty="0">
                <a:solidFill>
                  <a:srgbClr val="3E68FF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편집자</a:t>
            </a:r>
            <a:r>
              <a:rPr lang="en-US" altLang="ko-KR" sz="4400" b="1" dirty="0">
                <a:solidFill>
                  <a:srgbClr val="3E68FF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, </a:t>
            </a:r>
            <a:r>
              <a:rPr lang="ko-KR" altLang="en-US" sz="4400" b="1" dirty="0">
                <a:solidFill>
                  <a:srgbClr val="3E68FF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마케터</a:t>
            </a:r>
            <a:endParaRPr lang="en-US" sz="4400" dirty="0">
              <a:solidFill>
                <a:srgbClr val="3E68FF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7C7B1661-18A5-4189-AE13-6E75DD05B66F}"/>
              </a:ext>
            </a:extLst>
          </p:cNvPr>
          <p:cNvSpPr/>
          <p:nvPr/>
        </p:nvSpPr>
        <p:spPr>
          <a:xfrm>
            <a:off x="9136649" y="9067800"/>
            <a:ext cx="1195161" cy="939800"/>
          </a:xfrm>
          <a:prstGeom prst="downArrow">
            <a:avLst/>
          </a:prstGeom>
          <a:gradFill>
            <a:gsLst>
              <a:gs pos="0">
                <a:srgbClr val="FFFFFF"/>
              </a:gs>
              <a:gs pos="100000">
                <a:srgbClr val="2E5B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화살표: 아래쪽 26">
            <a:extLst>
              <a:ext uri="{FF2B5EF4-FFF2-40B4-BE49-F238E27FC236}">
                <a16:creationId xmlns:a16="http://schemas.microsoft.com/office/drawing/2014/main" id="{5F2BEB90-4143-43F9-81E9-49084AF33A7F}"/>
              </a:ext>
            </a:extLst>
          </p:cNvPr>
          <p:cNvSpPr/>
          <p:nvPr/>
        </p:nvSpPr>
        <p:spPr>
          <a:xfrm>
            <a:off x="13656332" y="9067800"/>
            <a:ext cx="1195161" cy="939800"/>
          </a:xfrm>
          <a:prstGeom prst="downArrow">
            <a:avLst/>
          </a:prstGeom>
          <a:gradFill>
            <a:gsLst>
              <a:gs pos="0">
                <a:srgbClr val="D5E1EF"/>
              </a:gs>
              <a:gs pos="100000">
                <a:srgbClr val="2E5B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화살표: 아래쪽 32">
            <a:extLst>
              <a:ext uri="{FF2B5EF4-FFF2-40B4-BE49-F238E27FC236}">
                <a16:creationId xmlns:a16="http://schemas.microsoft.com/office/drawing/2014/main" id="{F567C2BB-D5BC-45A6-8156-DBFDD1A6A015}"/>
              </a:ext>
            </a:extLst>
          </p:cNvPr>
          <p:cNvSpPr/>
          <p:nvPr/>
        </p:nvSpPr>
        <p:spPr>
          <a:xfrm>
            <a:off x="18540999" y="9067800"/>
            <a:ext cx="1195161" cy="939800"/>
          </a:xfrm>
          <a:prstGeom prst="downArrow">
            <a:avLst/>
          </a:prstGeom>
          <a:gradFill>
            <a:gsLst>
              <a:gs pos="0">
                <a:srgbClr val="D5E1EF"/>
              </a:gs>
              <a:gs pos="100000">
                <a:srgbClr val="2E5B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274FAA4-B108-40E7-8043-56A6B50C0D34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-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12 -  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22218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4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5">
            <a:extLst>
              <a:ext uri="{FF2B5EF4-FFF2-40B4-BE49-F238E27FC236}">
                <a16:creationId xmlns:a16="http://schemas.microsoft.com/office/drawing/2014/main" id="{04ADF442-BEB5-4DA4-BEEE-C83DAC0E0246}"/>
              </a:ext>
            </a:extLst>
          </p:cNvPr>
          <p:cNvSpPr/>
          <p:nvPr/>
        </p:nvSpPr>
        <p:spPr>
          <a:xfrm>
            <a:off x="8254362" y="6627931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기획자</a:t>
            </a:r>
            <a:endParaRPr lang="en-US" sz="4800" dirty="0">
              <a:solidFill>
                <a:schemeClr val="bg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5D29B07C-4C76-4131-ACF8-0C4ACE6F27C1}"/>
              </a:ext>
            </a:extLst>
          </p:cNvPr>
          <p:cNvSpPr/>
          <p:nvPr/>
        </p:nvSpPr>
        <p:spPr>
          <a:xfrm>
            <a:off x="8826820" y="6626041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 err="1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매니저</a:t>
            </a:r>
            <a:endParaRPr lang="en-US" sz="4800" dirty="0">
              <a:solidFill>
                <a:schemeClr val="bg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ECF0B666-0C68-4F32-975D-D56161BE4B8B}"/>
              </a:ext>
            </a:extLst>
          </p:cNvPr>
          <p:cNvSpPr/>
          <p:nvPr/>
        </p:nvSpPr>
        <p:spPr>
          <a:xfrm>
            <a:off x="8518206" y="6665888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편집자</a:t>
            </a:r>
            <a:r>
              <a:rPr lang="en-US" altLang="ko-KR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, </a:t>
            </a:r>
            <a:r>
              <a:rPr lang="ko-KR" altLang="en-US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마케터</a:t>
            </a:r>
            <a:endParaRPr lang="en-US" sz="4800" dirty="0">
              <a:solidFill>
                <a:schemeClr val="bg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3839" y="-1568450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28" name="Picture 4">
            <a:extLst>
              <a:ext uri="{FF2B5EF4-FFF2-40B4-BE49-F238E27FC236}">
                <a16:creationId xmlns:a16="http://schemas.microsoft.com/office/drawing/2014/main" id="{669A76E8-654B-4F23-9659-3AC3559EF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26E0AFED-AE34-47EA-A5CB-0AB34760BCD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9124" b="24629"/>
          <a:stretch/>
        </p:blipFill>
        <p:spPr>
          <a:xfrm>
            <a:off x="6427650" y="3178648"/>
            <a:ext cx="11698576" cy="54102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E9BE392-8DDC-4CB6-9C11-222DA958ED5E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13 -  </a:t>
            </a:r>
            <a:endParaRPr lang="ko-KR" alt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B64740-2910-4AB3-BA81-87ECA7B1BAEB}"/>
              </a:ext>
            </a:extLst>
          </p:cNvPr>
          <p:cNvSpPr txBox="1"/>
          <p:nvPr/>
        </p:nvSpPr>
        <p:spPr>
          <a:xfrm>
            <a:off x="2778080" y="7197482"/>
            <a:ext cx="18827839" cy="20433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2000"/>
              </a:spcAft>
            </a:pPr>
            <a:r>
              <a:rPr lang="ko-KR" altLang="en-US" sz="9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혼자여도, 혼자가 아닌 방송</a:t>
            </a:r>
            <a:endParaRPr lang="en-US" altLang="ko-KR" sz="23900" b="1" dirty="0">
              <a:solidFill>
                <a:schemeClr val="tx1">
                  <a:lumMod val="75000"/>
                  <a:lumOff val="25000"/>
                </a:schemeClr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0404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8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5">
            <a:extLst>
              <a:ext uri="{FF2B5EF4-FFF2-40B4-BE49-F238E27FC236}">
                <a16:creationId xmlns:a16="http://schemas.microsoft.com/office/drawing/2014/main" id="{04ADF442-BEB5-4DA4-BEEE-C83DAC0E0246}"/>
              </a:ext>
            </a:extLst>
          </p:cNvPr>
          <p:cNvSpPr/>
          <p:nvPr/>
        </p:nvSpPr>
        <p:spPr>
          <a:xfrm>
            <a:off x="8254362" y="6627931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기획자</a:t>
            </a:r>
            <a:endParaRPr lang="en-US" sz="4800" dirty="0">
              <a:solidFill>
                <a:schemeClr val="bg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5D29B07C-4C76-4131-ACF8-0C4ACE6F27C1}"/>
              </a:ext>
            </a:extLst>
          </p:cNvPr>
          <p:cNvSpPr/>
          <p:nvPr/>
        </p:nvSpPr>
        <p:spPr>
          <a:xfrm>
            <a:off x="8826820" y="6626041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 err="1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매니저</a:t>
            </a:r>
            <a:endParaRPr lang="en-US" sz="4800" dirty="0">
              <a:solidFill>
                <a:schemeClr val="bg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ECF0B666-0C68-4F32-975D-D56161BE4B8B}"/>
              </a:ext>
            </a:extLst>
          </p:cNvPr>
          <p:cNvSpPr/>
          <p:nvPr/>
        </p:nvSpPr>
        <p:spPr>
          <a:xfrm>
            <a:off x="8518206" y="6665888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편집자</a:t>
            </a:r>
            <a:r>
              <a:rPr lang="en-US" altLang="ko-KR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, </a:t>
            </a:r>
            <a:r>
              <a:rPr lang="ko-KR" altLang="en-US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마케터</a:t>
            </a:r>
            <a:endParaRPr lang="en-US" sz="4800" dirty="0">
              <a:solidFill>
                <a:schemeClr val="bg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3839" y="-1568450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28" name="Picture 4">
            <a:extLst>
              <a:ext uri="{FF2B5EF4-FFF2-40B4-BE49-F238E27FC236}">
                <a16:creationId xmlns:a16="http://schemas.microsoft.com/office/drawing/2014/main" id="{669A76E8-654B-4F23-9659-3AC3559EF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E9BE392-8DDC-4CB6-9C11-222DA958ED5E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14 -  </a:t>
            </a:r>
            <a:endParaRPr lang="ko-KR" alt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75E544-1481-4784-A9EB-4715AE81AAD1}"/>
              </a:ext>
            </a:extLst>
          </p:cNvPr>
          <p:cNvSpPr txBox="1"/>
          <p:nvPr/>
        </p:nvSpPr>
        <p:spPr>
          <a:xfrm>
            <a:off x="2778080" y="5350012"/>
            <a:ext cx="18827839" cy="20433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2000"/>
              </a:spcAft>
            </a:pPr>
            <a:r>
              <a:rPr lang="en-US" altLang="ko-KR" sz="9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2. </a:t>
            </a:r>
            <a:r>
              <a:rPr lang="ko-KR" altLang="en-US" sz="9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주요 기능 및 적용 기술</a:t>
            </a:r>
            <a:endParaRPr lang="en-US" altLang="ko-KR" sz="23900" b="1" dirty="0">
              <a:solidFill>
                <a:schemeClr val="tx1">
                  <a:lumMod val="75000"/>
                  <a:lumOff val="25000"/>
                </a:schemeClr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4596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450E0FDA-3BE4-4AEA-907F-5791CEFF6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13" name="TextBox 17">
            <a:extLst>
              <a:ext uri="{FF2B5EF4-FFF2-40B4-BE49-F238E27FC236}">
                <a16:creationId xmlns:a16="http://schemas.microsoft.com/office/drawing/2014/main" id="{39CE7698-8192-4073-92EE-D802CADD7AFD}"/>
              </a:ext>
            </a:extLst>
          </p:cNvPr>
          <p:cNvSpPr txBox="1"/>
          <p:nvPr/>
        </p:nvSpPr>
        <p:spPr>
          <a:xfrm>
            <a:off x="1739899" y="1217164"/>
            <a:ext cx="186010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주요 기능 </a:t>
            </a:r>
            <a:r>
              <a:rPr lang="en-US" altLang="ko-KR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1 –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방송 중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0A5A84-E134-4DD2-B289-AF04AE54F29E}"/>
              </a:ext>
            </a:extLst>
          </p:cNvPr>
          <p:cNvSpPr txBox="1"/>
          <p:nvPr/>
        </p:nvSpPr>
        <p:spPr>
          <a:xfrm>
            <a:off x="2778080" y="5198113"/>
            <a:ext cx="18827839" cy="3564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0" b="1" dirty="0">
                <a:solidFill>
                  <a:srgbClr val="3E68FF"/>
                </a:solidFill>
                <a:latin typeface="Pretendard Bold" panose="020B0600000101010101" charset="-127"/>
                <a:ea typeface="Pretendard Bold" panose="020B0600000101010101" charset="-127"/>
              </a:rPr>
              <a:t>시청자 반응</a:t>
            </a:r>
            <a:r>
              <a:rPr lang="en-US" altLang="ko-KR" sz="8000" b="1" dirty="0">
                <a:solidFill>
                  <a:srgbClr val="3E68FF"/>
                </a:solidFill>
                <a:latin typeface="Pretendard Bold" panose="020B0600000101010101" charset="-127"/>
                <a:ea typeface="Pretendard Bold" panose="020B0600000101010101" charset="-127"/>
              </a:rPr>
              <a:t>, </a:t>
            </a:r>
            <a:r>
              <a:rPr lang="ko-KR" altLang="en-US" sz="8000" b="1" dirty="0">
                <a:solidFill>
                  <a:srgbClr val="3E68FF"/>
                </a:solidFill>
                <a:latin typeface="Pretendard Bold" panose="020B0600000101010101" charset="-127"/>
                <a:ea typeface="Pretendard Bold" panose="020B0600000101010101" charset="-127"/>
              </a:rPr>
              <a:t>놓친 약속이나 채팅</a:t>
            </a:r>
            <a:r>
              <a:rPr lang="ko-KR" altLang="en-US" sz="80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rPr>
              <a:t>을</a:t>
            </a:r>
            <a:endParaRPr lang="en-US" altLang="ko-KR" sz="8000" b="1" dirty="0">
              <a:solidFill>
                <a:srgbClr val="001D67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0" b="1" dirty="0">
                <a:solidFill>
                  <a:srgbClr val="3E68FF"/>
                </a:solidFill>
                <a:latin typeface="Pretendard Bold" panose="020B0600000101010101" charset="-127"/>
                <a:ea typeface="Pretendard Bold" panose="020B0600000101010101" charset="-127"/>
              </a:rPr>
              <a:t>실시간</a:t>
            </a:r>
            <a:r>
              <a:rPr lang="ko-KR" altLang="en-US" sz="80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rPr>
              <a:t>으로 브리핑합니다</a:t>
            </a:r>
            <a:r>
              <a:rPr lang="en-US" altLang="ko-KR" sz="80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rPr>
              <a:t>.</a:t>
            </a:r>
            <a:endParaRPr lang="ko-KR" altLang="en-US" sz="8000" b="1" dirty="0">
              <a:solidFill>
                <a:srgbClr val="001D67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ABDAEF-C882-4239-85BB-5BCD18790A72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15 -  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80230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EE337C-37D5-EED7-4B96-81F6D2041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59644BF-212F-E5CE-DCC4-7E9B4FECE6D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C4B9ACF-0A75-85C2-D1FB-70A3546E1BE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22" name="Picture 4">
            <a:extLst>
              <a:ext uri="{FF2B5EF4-FFF2-40B4-BE49-F238E27FC236}">
                <a16:creationId xmlns:a16="http://schemas.microsoft.com/office/drawing/2014/main" id="{23AF6AFC-8DC0-4F15-A047-2EAE5C232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24" name="TextBox 17">
            <a:extLst>
              <a:ext uri="{FF2B5EF4-FFF2-40B4-BE49-F238E27FC236}">
                <a16:creationId xmlns:a16="http://schemas.microsoft.com/office/drawing/2014/main" id="{C1ACAA1C-B491-41F9-A69E-6DB23F73DF77}"/>
              </a:ext>
            </a:extLst>
          </p:cNvPr>
          <p:cNvSpPr txBox="1"/>
          <p:nvPr/>
        </p:nvSpPr>
        <p:spPr>
          <a:xfrm>
            <a:off x="1739899" y="1217164"/>
            <a:ext cx="186010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주요 기능 </a:t>
            </a:r>
            <a:r>
              <a:rPr lang="en-US" altLang="ko-KR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1 –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방송 중 실시간 채팅 및 세션 관리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196BD13-EBC3-8E95-A760-728E54E8C606}"/>
              </a:ext>
            </a:extLst>
          </p:cNvPr>
          <p:cNvSpPr/>
          <p:nvPr/>
        </p:nvSpPr>
        <p:spPr>
          <a:xfrm>
            <a:off x="1720849" y="3061285"/>
            <a:ext cx="20929272" cy="9178894"/>
          </a:xfrm>
          <a:prstGeom prst="roundRect">
            <a:avLst>
              <a:gd name="adj" fmla="val 3614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F3C7C6-DE0B-43A9-B464-6A96C568F1C7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16 -  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97143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6BBB9-EE5C-1B3C-930C-ADA594C3E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D54DD19-F240-E483-B760-07250B0D7CB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38C147B-3FC2-6D4D-5663-21DAE086F71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22" name="Picture 4">
            <a:extLst>
              <a:ext uri="{FF2B5EF4-FFF2-40B4-BE49-F238E27FC236}">
                <a16:creationId xmlns:a16="http://schemas.microsoft.com/office/drawing/2014/main" id="{8F17A1AC-DD93-9E4B-2243-630FFA92A4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24" name="TextBox 17">
            <a:extLst>
              <a:ext uri="{FF2B5EF4-FFF2-40B4-BE49-F238E27FC236}">
                <a16:creationId xmlns:a16="http://schemas.microsoft.com/office/drawing/2014/main" id="{26FB2E01-46E6-8982-77EC-482C062EFAE7}"/>
              </a:ext>
            </a:extLst>
          </p:cNvPr>
          <p:cNvSpPr txBox="1"/>
          <p:nvPr/>
        </p:nvSpPr>
        <p:spPr>
          <a:xfrm>
            <a:off x="1739899" y="1217164"/>
            <a:ext cx="186010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주요 기능 </a:t>
            </a:r>
            <a:r>
              <a:rPr lang="en-US" altLang="ko-KR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1 –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방송 중 실시간 채팅 및 세션 관리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8227B4E-7F48-3639-0582-0260966E892B}"/>
              </a:ext>
            </a:extLst>
          </p:cNvPr>
          <p:cNvSpPr/>
          <p:nvPr/>
        </p:nvSpPr>
        <p:spPr>
          <a:xfrm>
            <a:off x="1720849" y="3061285"/>
            <a:ext cx="20929272" cy="9178894"/>
          </a:xfrm>
          <a:prstGeom prst="roundRect">
            <a:avLst>
              <a:gd name="adj" fmla="val 3614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E4CA8D-AE1C-2407-2511-3D2C00D6C7C5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17 -  </a:t>
            </a:r>
            <a:endParaRPr lang="ko-KR" altLang="en-US" sz="2000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8DE21C6-9231-9671-FD80-2C0ACF874A7E}"/>
              </a:ext>
            </a:extLst>
          </p:cNvPr>
          <p:cNvSpPr/>
          <p:nvPr/>
        </p:nvSpPr>
        <p:spPr>
          <a:xfrm>
            <a:off x="-228600" y="-152400"/>
            <a:ext cx="24765000" cy="138684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2EABB1A-B9D6-3E9F-1627-4F22180D7C07}"/>
              </a:ext>
            </a:extLst>
          </p:cNvPr>
          <p:cNvSpPr/>
          <p:nvPr/>
        </p:nvSpPr>
        <p:spPr>
          <a:xfrm>
            <a:off x="5994401" y="8139025"/>
            <a:ext cx="12395198" cy="3048000"/>
          </a:xfrm>
          <a:prstGeom prst="roundRect">
            <a:avLst>
              <a:gd name="adj" fmla="val 11212"/>
            </a:avLst>
          </a:prstGeom>
          <a:solidFill>
            <a:schemeClr val="bg1"/>
          </a:solidFill>
          <a:ln w="38100">
            <a:solidFill>
              <a:srgbClr val="EFF7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400" dirty="0">
                <a:solidFill>
                  <a:srgbClr val="C00000"/>
                </a:solidFill>
                <a:latin typeface="Pretendard Bold" panose="020B0600000101010101" charset="-127"/>
                <a:ea typeface="Pretendard Bold" panose="020B0600000101010101" charset="-127"/>
              </a:rPr>
              <a:t>   🚨 위험 발언 감지 🚨</a:t>
            </a:r>
            <a:endParaRPr lang="en-US" altLang="ko-KR" sz="5400" dirty="0">
              <a:solidFill>
                <a:srgbClr val="C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논란의 여지가 있는 발언을</a:t>
            </a:r>
            <a:r>
              <a:rPr lang="en-US" altLang="ko-KR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10</a:t>
            </a: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초 안에 감지하고 경고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4137DE4-11D7-43FC-2940-65583E7DB2BD}"/>
              </a:ext>
            </a:extLst>
          </p:cNvPr>
          <p:cNvSpPr/>
          <p:nvPr/>
        </p:nvSpPr>
        <p:spPr>
          <a:xfrm>
            <a:off x="503707" y="3163909"/>
            <a:ext cx="23300386" cy="2980282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5862CD8-28D9-E802-B3C1-C8C293F2C909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 rot="5400000">
            <a:off x="11274467" y="6425727"/>
            <a:ext cx="1439751" cy="14397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17530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1" grpId="0" animBg="1"/>
      <p:bldP spid="11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88FD8-271C-6BA5-4E19-390DA8FDB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D829B8E-B0B4-1412-9309-C5C9D8C99F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8A9BBC4F-A226-D0B8-1EB8-9FC47627F4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22" name="Picture 4">
            <a:extLst>
              <a:ext uri="{FF2B5EF4-FFF2-40B4-BE49-F238E27FC236}">
                <a16:creationId xmlns:a16="http://schemas.microsoft.com/office/drawing/2014/main" id="{F47FF1CB-1C7D-DC1D-F4A8-8635113FE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24" name="TextBox 17">
            <a:extLst>
              <a:ext uri="{FF2B5EF4-FFF2-40B4-BE49-F238E27FC236}">
                <a16:creationId xmlns:a16="http://schemas.microsoft.com/office/drawing/2014/main" id="{D7DFB9C4-A9FE-249E-482C-3AFC5CC4309E}"/>
              </a:ext>
            </a:extLst>
          </p:cNvPr>
          <p:cNvSpPr txBox="1"/>
          <p:nvPr/>
        </p:nvSpPr>
        <p:spPr>
          <a:xfrm>
            <a:off x="1739899" y="1217164"/>
            <a:ext cx="186010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주요 기능 </a:t>
            </a:r>
            <a:r>
              <a:rPr lang="en-US" altLang="ko-KR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1 –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방송 중 실시간 채팅 및 세션 관리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D89B134-D030-AE6F-16C7-BB1EBA999602}"/>
              </a:ext>
            </a:extLst>
          </p:cNvPr>
          <p:cNvSpPr/>
          <p:nvPr/>
        </p:nvSpPr>
        <p:spPr>
          <a:xfrm>
            <a:off x="1720849" y="3061285"/>
            <a:ext cx="20929272" cy="9178894"/>
          </a:xfrm>
          <a:prstGeom prst="roundRect">
            <a:avLst>
              <a:gd name="adj" fmla="val 3614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94483C-EF68-728F-2E9A-E91349A6D4F4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18 -  </a:t>
            </a:r>
            <a:endParaRPr lang="ko-KR" altLang="en-US" sz="2000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C6A50F9-F0E4-FFF0-C815-341818A2AA37}"/>
              </a:ext>
            </a:extLst>
          </p:cNvPr>
          <p:cNvSpPr/>
          <p:nvPr/>
        </p:nvSpPr>
        <p:spPr>
          <a:xfrm>
            <a:off x="-228600" y="-152400"/>
            <a:ext cx="24765000" cy="138684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0ACA027-81F3-2142-64EA-2A60BFC6B7FD}"/>
              </a:ext>
            </a:extLst>
          </p:cNvPr>
          <p:cNvSpPr/>
          <p:nvPr/>
        </p:nvSpPr>
        <p:spPr>
          <a:xfrm>
            <a:off x="5703089" y="8329580"/>
            <a:ext cx="13102769" cy="3048000"/>
          </a:xfrm>
          <a:prstGeom prst="roundRect">
            <a:avLst>
              <a:gd name="adj" fmla="val 11212"/>
            </a:avLst>
          </a:prstGeom>
          <a:solidFill>
            <a:schemeClr val="bg1"/>
          </a:solidFill>
          <a:ln w="38100">
            <a:solidFill>
              <a:srgbClr val="EFF7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400" dirty="0">
                <a:solidFill>
                  <a:srgbClr val="C00000"/>
                </a:solidFill>
                <a:latin typeface="Pretendard Bold" panose="020B0600000101010101" charset="-127"/>
                <a:ea typeface="Pretendard Bold" panose="020B0600000101010101" charset="-127"/>
              </a:rPr>
              <a:t>   🤙 </a:t>
            </a:r>
            <a:r>
              <a:rPr lang="ko-KR" altLang="en-US" sz="5400" dirty="0" err="1">
                <a:solidFill>
                  <a:srgbClr val="2E5BFF"/>
                </a:solidFill>
                <a:latin typeface="Pretendard Bold" panose="020B0600000101010101" charset="-127"/>
                <a:ea typeface="Pretendard Bold" panose="020B0600000101010101" charset="-127"/>
              </a:rPr>
              <a:t>스트리머</a:t>
            </a:r>
            <a:r>
              <a:rPr lang="ko-KR" altLang="en-US" sz="5400" dirty="0">
                <a:solidFill>
                  <a:srgbClr val="2E5BFF"/>
                </a:solidFill>
                <a:latin typeface="Pretendard Bold" panose="020B0600000101010101" charset="-127"/>
                <a:ea typeface="Pretendard Bold" panose="020B0600000101010101" charset="-127"/>
              </a:rPr>
              <a:t> 약속 </a:t>
            </a:r>
            <a:r>
              <a:rPr lang="ko-KR" altLang="en-US" sz="5400" dirty="0" err="1">
                <a:solidFill>
                  <a:srgbClr val="2E5BFF"/>
                </a:solidFill>
                <a:latin typeface="Pretendard Bold" panose="020B0600000101010101" charset="-127"/>
                <a:ea typeface="Pretendard Bold" panose="020B0600000101010101" charset="-127"/>
              </a:rPr>
              <a:t>추적기</a:t>
            </a:r>
            <a:endParaRPr lang="en-US" altLang="ko-KR" sz="5400" dirty="0">
              <a:solidFill>
                <a:srgbClr val="2E5BFF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 방송 중에 발생한 시청자와의 약속</a:t>
            </a:r>
            <a:r>
              <a:rPr lang="en-US" altLang="ko-KR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자동 기록 </a:t>
            </a:r>
            <a:r>
              <a:rPr lang="en-US" altLang="ko-KR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· </a:t>
            </a: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리마인드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0243F69-8B37-179A-9A8F-B36948B02BF2}"/>
              </a:ext>
            </a:extLst>
          </p:cNvPr>
          <p:cNvSpPr/>
          <p:nvPr/>
        </p:nvSpPr>
        <p:spPr>
          <a:xfrm>
            <a:off x="1295400" y="2209800"/>
            <a:ext cx="21829730" cy="4385437"/>
          </a:xfrm>
          <a:prstGeom prst="roundRect">
            <a:avLst>
              <a:gd name="adj" fmla="val 13287"/>
            </a:avLst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D7ADDB0-5448-495D-FCA6-B75A21975747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 rot="5400000">
            <a:off x="11187544" y="6742533"/>
            <a:ext cx="1439751" cy="14397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6789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1" grpId="0" animBg="1"/>
      <p:bldP spid="11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A7669-30F5-2CDB-14CD-9F0834F4C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DDF9BB6-D7C5-21E3-0A2C-60BA1BEB202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33F799BB-C458-E3A0-D661-232E484D21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22" name="Picture 4">
            <a:extLst>
              <a:ext uri="{FF2B5EF4-FFF2-40B4-BE49-F238E27FC236}">
                <a16:creationId xmlns:a16="http://schemas.microsoft.com/office/drawing/2014/main" id="{D1FB6EAF-07E3-1E41-6223-5158478E5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24" name="TextBox 17">
            <a:extLst>
              <a:ext uri="{FF2B5EF4-FFF2-40B4-BE49-F238E27FC236}">
                <a16:creationId xmlns:a16="http://schemas.microsoft.com/office/drawing/2014/main" id="{1A1EF4E3-7F1D-3E66-DC14-77C30FF2C6F5}"/>
              </a:ext>
            </a:extLst>
          </p:cNvPr>
          <p:cNvSpPr txBox="1"/>
          <p:nvPr/>
        </p:nvSpPr>
        <p:spPr>
          <a:xfrm>
            <a:off x="1739899" y="1217164"/>
            <a:ext cx="186010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주요 기능 </a:t>
            </a:r>
            <a:r>
              <a:rPr lang="en-US" altLang="ko-KR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1 –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방송 중 실시간 채팅 및 세션 관리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204EDD0-CFE2-C07F-20E4-71B67071B5BD}"/>
              </a:ext>
            </a:extLst>
          </p:cNvPr>
          <p:cNvSpPr/>
          <p:nvPr/>
        </p:nvSpPr>
        <p:spPr>
          <a:xfrm>
            <a:off x="1720849" y="3061285"/>
            <a:ext cx="20929272" cy="9178894"/>
          </a:xfrm>
          <a:prstGeom prst="roundRect">
            <a:avLst>
              <a:gd name="adj" fmla="val 3614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F0E823-808A-4858-A6C9-D39FB8878FF2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19 -  </a:t>
            </a:r>
            <a:endParaRPr lang="ko-KR" altLang="en-US" sz="2000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E4C7E43-FC94-B368-6D4D-AB6C12B303DC}"/>
              </a:ext>
            </a:extLst>
          </p:cNvPr>
          <p:cNvSpPr/>
          <p:nvPr/>
        </p:nvSpPr>
        <p:spPr>
          <a:xfrm>
            <a:off x="-228600" y="-152400"/>
            <a:ext cx="24765000" cy="138684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10DE338-48ED-2C6D-075F-C8A7454F4649}"/>
              </a:ext>
            </a:extLst>
          </p:cNvPr>
          <p:cNvSpPr/>
          <p:nvPr/>
        </p:nvSpPr>
        <p:spPr>
          <a:xfrm>
            <a:off x="1367271" y="2552700"/>
            <a:ext cx="9940165" cy="9614744"/>
          </a:xfrm>
          <a:prstGeom prst="roundRect">
            <a:avLst>
              <a:gd name="adj" fmla="val 4863"/>
            </a:avLst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2B2F789-8AF7-28D5-C494-5BEF10D32827}"/>
              </a:ext>
            </a:extLst>
          </p:cNvPr>
          <p:cNvSpPr/>
          <p:nvPr/>
        </p:nvSpPr>
        <p:spPr>
          <a:xfrm>
            <a:off x="12313409" y="5420193"/>
            <a:ext cx="10504162" cy="3941294"/>
          </a:xfrm>
          <a:prstGeom prst="roundRect">
            <a:avLst>
              <a:gd name="adj" fmla="val 11212"/>
            </a:avLst>
          </a:prstGeom>
          <a:solidFill>
            <a:schemeClr val="bg1"/>
          </a:solidFill>
          <a:ln w="38100">
            <a:solidFill>
              <a:srgbClr val="EFF7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400" dirty="0">
                <a:solidFill>
                  <a:srgbClr val="0135E2"/>
                </a:solidFill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ko-KR" altLang="en-US" sz="5400" dirty="0">
                <a:solidFill>
                  <a:srgbClr val="0135E2"/>
                </a:solidFill>
                <a:latin typeface="Pretendard Bold" panose="020B0600000101010101" charset="-127"/>
                <a:ea typeface="Pretendard Bold" panose="020B0600000101010101" charset="-127"/>
              </a:rPr>
              <a:t>🌡️ </a:t>
            </a:r>
            <a:r>
              <a:rPr lang="ko-KR" altLang="en-US" sz="5400" dirty="0">
                <a:solidFill>
                  <a:schemeClr val="accent6">
                    <a:lumMod val="50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실시간 채팅 온도계</a:t>
            </a:r>
            <a:r>
              <a:rPr lang="en-US" altLang="ko-KR" sz="5400" dirty="0">
                <a:solidFill>
                  <a:schemeClr val="accent6">
                    <a:lumMod val="50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, </a:t>
            </a:r>
            <a:r>
              <a:rPr lang="ko-KR" altLang="en-US" sz="5400" dirty="0">
                <a:solidFill>
                  <a:schemeClr val="accent6">
                    <a:lumMod val="50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요약 </a:t>
            </a:r>
            <a:r>
              <a:rPr lang="ko-KR" altLang="en-US" sz="5400" dirty="0">
                <a:solidFill>
                  <a:srgbClr val="0135E2"/>
                </a:solidFill>
                <a:latin typeface="Pretendard Bold" panose="020B0600000101010101" charset="-127"/>
                <a:ea typeface="Pretendard Bold" panose="020B0600000101010101" charset="-127"/>
              </a:rPr>
              <a:t>🌤️</a:t>
            </a:r>
            <a:endParaRPr lang="en-US" altLang="ko-KR" sz="5400" dirty="0">
              <a:solidFill>
                <a:srgbClr val="0135E2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 일정 구간의 채팅 여론을 분석하고</a:t>
            </a:r>
            <a:r>
              <a:rPr lang="en-US" altLang="ko-KR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요약</a:t>
            </a:r>
            <a:endParaRPr lang="en-US" altLang="ko-KR" sz="4400" dirty="0">
              <a:solidFill>
                <a:schemeClr val="tx1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 </a:t>
            </a: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반복 되는 질문을 카운트하여 제공</a:t>
            </a:r>
            <a:endParaRPr lang="en-US" altLang="ko-KR" sz="4400" dirty="0">
              <a:solidFill>
                <a:schemeClr val="tx1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6230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id="{E59FD097-FDDB-4408-9C20-5A8A402DC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15" name="TextBox 17">
            <a:extLst>
              <a:ext uri="{FF2B5EF4-FFF2-40B4-BE49-F238E27FC236}">
                <a16:creationId xmlns:a16="http://schemas.microsoft.com/office/drawing/2014/main" id="{B52FE0CD-581A-4092-BFD8-759A37C1E30B}"/>
              </a:ext>
            </a:extLst>
          </p:cNvPr>
          <p:cNvSpPr txBox="1"/>
          <p:nvPr/>
        </p:nvSpPr>
        <p:spPr>
          <a:xfrm>
            <a:off x="1739899" y="1217164"/>
            <a:ext cx="186010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적용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기</a:t>
            </a:r>
            <a:r>
              <a:rPr lang="ko-KR" altLang="en-US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술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0A5A84-E134-4DD2-B289-AF04AE54F29E}"/>
              </a:ext>
            </a:extLst>
          </p:cNvPr>
          <p:cNvSpPr txBox="1"/>
          <p:nvPr/>
        </p:nvSpPr>
        <p:spPr>
          <a:xfrm>
            <a:off x="1208316" y="10525904"/>
            <a:ext cx="22021800" cy="118981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ko-KR" altLang="en-US" sz="5400" b="1" dirty="0">
                <a:solidFill>
                  <a:srgbClr val="16265C"/>
                </a:solidFill>
                <a:latin typeface="Pretendard Bold" panose="020B0600000101010101" charset="-127"/>
                <a:ea typeface="Pretendard Bold" panose="020B0600000101010101" charset="-127"/>
              </a:rPr>
              <a:t>규칙 엔진이 거르고, 이벤트일 때만 </a:t>
            </a:r>
            <a:r>
              <a:rPr lang="ko-KR" altLang="en-US" sz="5400" b="1" dirty="0" err="1">
                <a:solidFill>
                  <a:srgbClr val="16265C"/>
                </a:solidFill>
                <a:latin typeface="Pretendard Bold" panose="020B0600000101010101" charset="-127"/>
                <a:ea typeface="Pretendard Bold" panose="020B0600000101010101" charset="-127"/>
              </a:rPr>
              <a:t>LLM을</a:t>
            </a:r>
            <a:r>
              <a:rPr lang="ko-KR" altLang="en-US" sz="5400" b="1" dirty="0">
                <a:solidFill>
                  <a:srgbClr val="16265C"/>
                </a:solidFill>
                <a:latin typeface="Pretendard Bold" panose="020B0600000101010101" charset="-127"/>
                <a:ea typeface="Pretendard Bold" panose="020B0600000101010101" charset="-127"/>
              </a:rPr>
              <a:t> 호출 </a:t>
            </a:r>
            <a:r>
              <a:rPr lang="en-US" altLang="ko-KR" sz="5400" b="1" dirty="0">
                <a:solidFill>
                  <a:srgbClr val="16265C"/>
                </a:solidFill>
                <a:latin typeface="Pretendard Bold" panose="020B0600000101010101" charset="-127"/>
                <a:ea typeface="Pretendard Bold" panose="020B0600000101010101" charset="-127"/>
              </a:rPr>
              <a:t>- </a:t>
            </a:r>
            <a:r>
              <a:rPr lang="ko-KR" altLang="en-US" sz="5400" b="1" dirty="0">
                <a:solidFill>
                  <a:srgbClr val="16265C"/>
                </a:solidFill>
                <a:latin typeface="Pretendard Bold" panose="020B0600000101010101" charset="-127"/>
                <a:ea typeface="Pretendard Bold" panose="020B0600000101010101" charset="-127"/>
              </a:rPr>
              <a:t>비용 · 성능을 동시에 잡는 설계</a:t>
            </a:r>
            <a:endParaRPr lang="en-US" altLang="ko-KR" sz="19900" b="1" dirty="0">
              <a:solidFill>
                <a:srgbClr val="001D67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21" name="Picture 20" descr="pipe_l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984825" y="2802628"/>
            <a:ext cx="27566250" cy="669466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FBC16DD-937F-4F23-9EE0-4F07F5D67046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20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-  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802303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29305D-2A81-96F1-870F-593394EFC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02CB7D9-C9F5-00C4-41E0-E06C1D04E82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ECD03BA-EFB9-A92A-7909-6992CDCF698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DA080A55-A627-4666-AECB-6C56C88A4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13" name="TextBox 17">
            <a:extLst>
              <a:ext uri="{FF2B5EF4-FFF2-40B4-BE49-F238E27FC236}">
                <a16:creationId xmlns:a16="http://schemas.microsoft.com/office/drawing/2014/main" id="{7CC97015-04BE-48E2-9F4B-D88E5C737125}"/>
              </a:ext>
            </a:extLst>
          </p:cNvPr>
          <p:cNvSpPr txBox="1"/>
          <p:nvPr/>
        </p:nvSpPr>
        <p:spPr>
          <a:xfrm>
            <a:off x="1739899" y="1217164"/>
            <a:ext cx="186010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주요 기능 </a:t>
            </a:r>
            <a:r>
              <a:rPr lang="en-US" altLang="ko-KR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2 –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방송 후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3DFE90-9578-4CBD-AE60-BD528424F821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21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-  </a:t>
            </a:r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8BCB0B-6B35-9902-9475-D0CB5C072242}"/>
              </a:ext>
            </a:extLst>
          </p:cNvPr>
          <p:cNvSpPr txBox="1"/>
          <p:nvPr/>
        </p:nvSpPr>
        <p:spPr>
          <a:xfrm>
            <a:off x="3530086" y="4418197"/>
            <a:ext cx="17273028" cy="487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2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rPr>
              <a:t>방송 종료 후 </a:t>
            </a:r>
            <a:endParaRPr lang="en-US" altLang="ko-KR" sz="7200" b="1" dirty="0">
              <a:solidFill>
                <a:srgbClr val="001D67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7200" b="1" dirty="0">
                <a:solidFill>
                  <a:srgbClr val="0135E2"/>
                </a:solidFill>
                <a:latin typeface="Pretendard Bold" panose="020B0600000101010101" charset="-127"/>
                <a:ea typeface="Pretendard Bold" panose="020B0600000101010101" charset="-127"/>
              </a:rPr>
              <a:t>리포트</a:t>
            </a:r>
            <a:r>
              <a:rPr lang="en-US" altLang="ko-KR" sz="7200" b="1" dirty="0">
                <a:solidFill>
                  <a:srgbClr val="0135E2"/>
                </a:solidFill>
                <a:latin typeface="Pretendard Bold" panose="020B0600000101010101" charset="-127"/>
                <a:ea typeface="Pretendard Bold" panose="020B0600000101010101" charset="-127"/>
              </a:rPr>
              <a:t>, </a:t>
            </a:r>
            <a:r>
              <a:rPr lang="ko-KR" altLang="en-US" sz="7200" b="1" dirty="0" err="1">
                <a:solidFill>
                  <a:srgbClr val="0135E2"/>
                </a:solidFill>
                <a:latin typeface="Pretendard Bold" panose="020B0600000101010101" charset="-127"/>
                <a:ea typeface="Pretendard Bold" panose="020B0600000101010101" charset="-127"/>
              </a:rPr>
              <a:t>쇼츠</a:t>
            </a:r>
            <a:r>
              <a:rPr lang="en-US" altLang="ko-KR" sz="7200" b="1" dirty="0">
                <a:solidFill>
                  <a:srgbClr val="0135E2"/>
                </a:solidFill>
                <a:latin typeface="Pretendard Bold" panose="020B0600000101010101" charset="-127"/>
                <a:ea typeface="Pretendard Bold" panose="020B0600000101010101" charset="-127"/>
              </a:rPr>
              <a:t>, </a:t>
            </a:r>
            <a:r>
              <a:rPr lang="ko-KR" altLang="en-US" sz="7200" b="1" dirty="0">
                <a:solidFill>
                  <a:srgbClr val="0135E2"/>
                </a:solidFill>
                <a:latin typeface="Pretendard Bold" panose="020B0600000101010101" charset="-127"/>
                <a:ea typeface="Pretendard Bold" panose="020B0600000101010101" charset="-127"/>
              </a:rPr>
              <a:t>홍보용 포트폴리오</a:t>
            </a:r>
            <a:r>
              <a:rPr lang="ko-KR" altLang="en-US" sz="72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rPr>
              <a:t>를</a:t>
            </a:r>
            <a:endParaRPr lang="en-US" altLang="ko-KR" sz="7200" b="1" dirty="0">
              <a:solidFill>
                <a:srgbClr val="001D67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72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rPr>
              <a:t>자동 생성 합니다</a:t>
            </a:r>
            <a:r>
              <a:rPr lang="en-US" altLang="ko-KR" sz="72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rPr>
              <a:t>.</a:t>
            </a:r>
            <a:endParaRPr lang="ko-KR" altLang="en-US" sz="7200" b="1" dirty="0">
              <a:solidFill>
                <a:srgbClr val="001D67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4542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38B4B8-B407-5CDD-9068-921D24B68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2BF4B88-93D0-607B-62C8-D2738A0ADC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22432B5-6E00-2685-83D8-F59584DB23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32" name="Picture 4">
            <a:extLst>
              <a:ext uri="{FF2B5EF4-FFF2-40B4-BE49-F238E27FC236}">
                <a16:creationId xmlns:a16="http://schemas.microsoft.com/office/drawing/2014/main" id="{B6FDE3DF-3429-4334-9407-BB1AE4473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33" name="TextBox 17">
            <a:extLst>
              <a:ext uri="{FF2B5EF4-FFF2-40B4-BE49-F238E27FC236}">
                <a16:creationId xmlns:a16="http://schemas.microsoft.com/office/drawing/2014/main" id="{A8ACDEB3-F3EF-4DC8-B13A-4AF0558E9430}"/>
              </a:ext>
            </a:extLst>
          </p:cNvPr>
          <p:cNvSpPr txBox="1"/>
          <p:nvPr/>
        </p:nvSpPr>
        <p:spPr>
          <a:xfrm>
            <a:off x="1739899" y="1217164"/>
            <a:ext cx="186010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주요 기능 </a:t>
            </a:r>
            <a:r>
              <a:rPr lang="en-US" altLang="ko-KR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2 –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방송 후 세션 리포트 및 하이라이트 추출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4F4D85F-9FB8-E6EE-2BC3-B5C88B78DDA4}"/>
              </a:ext>
            </a:extLst>
          </p:cNvPr>
          <p:cNvSpPr/>
          <p:nvPr/>
        </p:nvSpPr>
        <p:spPr>
          <a:xfrm>
            <a:off x="6171763" y="3035612"/>
            <a:ext cx="11989674" cy="9444174"/>
          </a:xfrm>
          <a:prstGeom prst="roundRect">
            <a:avLst>
              <a:gd name="adj" fmla="val 1955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6215D1-4B7F-4FEE-878E-E526521CC2FD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22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-  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22316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05355-55B5-DC9A-EED7-D13E9F781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D878240C-C49D-89F3-5399-88294FE5DEC1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23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-  </a:t>
            </a:r>
            <a:endParaRPr lang="ko-KR" altLang="en-US" sz="200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43E940B-8157-7B9F-E1D9-716F493DDB7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5964D4F-B8ED-91F5-66F8-43C500E8F98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32" name="Picture 4">
            <a:extLst>
              <a:ext uri="{FF2B5EF4-FFF2-40B4-BE49-F238E27FC236}">
                <a16:creationId xmlns:a16="http://schemas.microsoft.com/office/drawing/2014/main" id="{464FF63E-E0A3-A391-2174-865E0E412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33" name="TextBox 17">
            <a:extLst>
              <a:ext uri="{FF2B5EF4-FFF2-40B4-BE49-F238E27FC236}">
                <a16:creationId xmlns:a16="http://schemas.microsoft.com/office/drawing/2014/main" id="{DC8B563D-6E67-0DE9-02AD-E684A6FDF8E9}"/>
              </a:ext>
            </a:extLst>
          </p:cNvPr>
          <p:cNvSpPr txBox="1"/>
          <p:nvPr/>
        </p:nvSpPr>
        <p:spPr>
          <a:xfrm>
            <a:off x="1739899" y="1217164"/>
            <a:ext cx="186010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주요 기능 </a:t>
            </a:r>
            <a:r>
              <a:rPr lang="en-US" altLang="ko-KR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2 –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방송 후 세션 리포트 및 하이라이트 추출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889AB20-0156-E8AE-9B78-89394D8DD9DC}"/>
              </a:ext>
            </a:extLst>
          </p:cNvPr>
          <p:cNvSpPr/>
          <p:nvPr/>
        </p:nvSpPr>
        <p:spPr>
          <a:xfrm>
            <a:off x="1435100" y="3035612"/>
            <a:ext cx="11989674" cy="9444174"/>
          </a:xfrm>
          <a:prstGeom prst="roundRect">
            <a:avLst>
              <a:gd name="adj" fmla="val 1955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B5DF264-5313-6F70-9372-F8D48B978DF6}"/>
              </a:ext>
            </a:extLst>
          </p:cNvPr>
          <p:cNvGrpSpPr/>
          <p:nvPr/>
        </p:nvGrpSpPr>
        <p:grpSpPr>
          <a:xfrm>
            <a:off x="13117918" y="5376492"/>
            <a:ext cx="10619256" cy="4529508"/>
            <a:chOff x="12862230" y="6028346"/>
            <a:chExt cx="10619256" cy="4529508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02B37C74-B2BD-F977-B503-043A29E737D5}"/>
                </a:ext>
              </a:extLst>
            </p:cNvPr>
            <p:cNvSpPr/>
            <p:nvPr/>
          </p:nvSpPr>
          <p:spPr>
            <a:xfrm>
              <a:off x="13758882" y="6028346"/>
              <a:ext cx="8725692" cy="4529508"/>
            </a:xfrm>
            <a:prstGeom prst="ellipse">
              <a:avLst/>
            </a:prstGeom>
            <a:solidFill>
              <a:srgbClr val="77C2FF">
                <a:alpha val="20000"/>
              </a:srgbClr>
            </a:solidFill>
            <a:ln>
              <a:noFill/>
            </a:ln>
            <a:effectLst>
              <a:softEdge rad="9652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738C67C-B0C8-0A38-7DFC-47F069C6456E}"/>
                </a:ext>
              </a:extLst>
            </p:cNvPr>
            <p:cNvSpPr txBox="1"/>
            <p:nvPr/>
          </p:nvSpPr>
          <p:spPr>
            <a:xfrm>
              <a:off x="12862230" y="6451698"/>
              <a:ext cx="10619256" cy="32838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4800" b="1" dirty="0">
                  <a:solidFill>
                    <a:srgbClr val="001D67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방송 종료 후 </a:t>
              </a:r>
              <a:endParaRPr lang="en-US" altLang="ko-KR" sz="48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4800" b="1" dirty="0">
                  <a:solidFill>
                    <a:srgbClr val="0135E2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리포트</a:t>
              </a:r>
              <a:r>
                <a:rPr lang="en-US" altLang="ko-KR" sz="4800" b="1" dirty="0">
                  <a:solidFill>
                    <a:srgbClr val="0135E2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, </a:t>
              </a:r>
              <a:r>
                <a:rPr lang="ko-KR" altLang="en-US" sz="4800" b="1" dirty="0" err="1">
                  <a:solidFill>
                    <a:srgbClr val="0135E2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쇼츠</a:t>
              </a:r>
              <a:r>
                <a:rPr lang="en-US" altLang="ko-KR" sz="4800" b="1" dirty="0">
                  <a:solidFill>
                    <a:srgbClr val="0135E2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, </a:t>
              </a:r>
              <a:r>
                <a:rPr lang="ko-KR" altLang="en-US" sz="4800" b="1" dirty="0">
                  <a:solidFill>
                    <a:srgbClr val="0135E2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홍보용 포트폴리오</a:t>
              </a:r>
              <a:r>
                <a:rPr lang="ko-KR" altLang="en-US" sz="4800" b="1" dirty="0">
                  <a:solidFill>
                    <a:srgbClr val="001D67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를</a:t>
              </a:r>
              <a:endParaRPr lang="en-US" altLang="ko-KR" sz="48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4800" b="1" dirty="0">
                  <a:solidFill>
                    <a:srgbClr val="001D67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자동 생성 합니다</a:t>
              </a:r>
              <a:r>
                <a:rPr lang="en-US" altLang="ko-KR" sz="4800" b="1" dirty="0">
                  <a:solidFill>
                    <a:srgbClr val="001D67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.</a:t>
              </a:r>
              <a:endParaRPr lang="ko-KR" altLang="en-US" sz="48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endParaRPr>
            </a:p>
          </p:txBody>
        </p:sp>
      </p:grp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BF49A8A-5F20-46E6-A3CE-E4B6117991E2}"/>
              </a:ext>
            </a:extLst>
          </p:cNvPr>
          <p:cNvSpPr/>
          <p:nvPr/>
        </p:nvSpPr>
        <p:spPr>
          <a:xfrm>
            <a:off x="-228600" y="-152400"/>
            <a:ext cx="24765000" cy="138684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0F53958-25A4-14D5-AC8F-BDFDE4108CC4}"/>
              </a:ext>
            </a:extLst>
          </p:cNvPr>
          <p:cNvSpPr/>
          <p:nvPr/>
        </p:nvSpPr>
        <p:spPr>
          <a:xfrm>
            <a:off x="1401830" y="2048354"/>
            <a:ext cx="18453100" cy="7312204"/>
          </a:xfrm>
          <a:prstGeom prst="roundRect">
            <a:avLst>
              <a:gd name="adj" fmla="val 7052"/>
            </a:avLst>
          </a:prstGeom>
          <a:blipFill>
            <a:blip r:embed="rId6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DE8CE6A-EB81-B3C9-862E-FFD2B866B7FD}"/>
              </a:ext>
            </a:extLst>
          </p:cNvPr>
          <p:cNvSpPr/>
          <p:nvPr/>
        </p:nvSpPr>
        <p:spPr>
          <a:xfrm>
            <a:off x="13248488" y="7660217"/>
            <a:ext cx="9695046" cy="3850564"/>
          </a:xfrm>
          <a:prstGeom prst="roundRect">
            <a:avLst>
              <a:gd name="adj" fmla="val 8754"/>
            </a:avLst>
          </a:prstGeom>
          <a:solidFill>
            <a:schemeClr val="bg1"/>
          </a:solidFill>
          <a:ln w="38100">
            <a:solidFill>
              <a:srgbClr val="EFF7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400">
                <a:solidFill>
                  <a:srgbClr val="0135E2"/>
                </a:solidFill>
                <a:latin typeface="Pretendard Bold" panose="020B0600000101010101" charset="-127"/>
                <a:ea typeface="Pretendard Bold" panose="020B0600000101010101" charset="-127"/>
              </a:rPr>
              <a:t>  </a:t>
            </a:r>
            <a:r>
              <a:rPr lang="ko-KR" altLang="en-US" sz="5400">
                <a:solidFill>
                  <a:srgbClr val="0135E2"/>
                </a:solidFill>
                <a:latin typeface="Pretendard Bold" panose="020B0600000101010101" charset="-127"/>
                <a:ea typeface="Pretendard Bold" panose="020B0600000101010101" charset="-127"/>
              </a:rPr>
              <a:t>🔥 </a:t>
            </a:r>
            <a:r>
              <a:rPr lang="ko-KR" altLang="en-US" sz="5400" dirty="0">
                <a:solidFill>
                  <a:schemeClr val="accent6">
                    <a:lumMod val="75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시청자 수 및 채팅 그래프 </a:t>
            </a:r>
            <a:r>
              <a:rPr lang="ko-KR" altLang="en-US" sz="5400" dirty="0">
                <a:solidFill>
                  <a:srgbClr val="0135E2"/>
                </a:solidFill>
                <a:latin typeface="Pretendard Bold" panose="020B0600000101010101" charset="-127"/>
                <a:ea typeface="Pretendard Bold" panose="020B0600000101010101" charset="-127"/>
              </a:rPr>
              <a:t>🔥 </a:t>
            </a:r>
            <a:endParaRPr lang="en-US" altLang="ko-KR" sz="5400">
              <a:solidFill>
                <a:srgbClr val="0135E2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5400">
                <a:solidFill>
                  <a:srgbClr val="0135E2"/>
                </a:solidFill>
                <a:latin typeface="Pretendard Bold" panose="020B0600000101010101" charset="-127"/>
                <a:ea typeface="Pretendard Bold" panose="020B0600000101010101" charset="-127"/>
              </a:rPr>
              <a:t>  </a:t>
            </a:r>
            <a:r>
              <a:rPr lang="ko-KR" altLang="en-US" sz="440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유입 </a:t>
            </a:r>
            <a:r>
              <a:rPr lang="en-US" altLang="ko-KR" sz="440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· </a:t>
            </a:r>
            <a:r>
              <a:rPr lang="ko-KR" altLang="en-US" sz="440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이탈 </a:t>
            </a: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분석을 기반으로 방송 통계를 </a:t>
            </a:r>
            <a:endParaRPr lang="en-US" altLang="ko-KR" sz="4400">
              <a:solidFill>
                <a:schemeClr val="tx1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40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</a:t>
            </a:r>
            <a:r>
              <a:rPr lang="ko-KR" altLang="en-US" sz="440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한눈에 </a:t>
            </a: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확인 가능한 그래프</a:t>
            </a:r>
          </a:p>
        </p:txBody>
      </p:sp>
    </p:spTree>
    <p:extLst>
      <p:ext uri="{BB962C8B-B14F-4D97-AF65-F5344CB8AC3E}">
        <p14:creationId xmlns:p14="http://schemas.microsoft.com/office/powerpoint/2010/main" val="3787109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9" grpId="0" animBg="1"/>
      <p:bldP spid="19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95504-BB41-EF3A-48C0-299AD497F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66FF8025-0C9D-C437-BF9E-0B5D8C3DD6ED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24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-  </a:t>
            </a:r>
            <a:endParaRPr lang="ko-KR" altLang="en-US" sz="200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244C056-CE43-8FC9-92F7-49EAC78B36A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DC7441F-9B2B-9C24-877A-C8F73A201E5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32" name="Picture 4">
            <a:extLst>
              <a:ext uri="{FF2B5EF4-FFF2-40B4-BE49-F238E27FC236}">
                <a16:creationId xmlns:a16="http://schemas.microsoft.com/office/drawing/2014/main" id="{63C4CAEA-FC62-A5AA-0300-8B687BADB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33" name="TextBox 17">
            <a:extLst>
              <a:ext uri="{FF2B5EF4-FFF2-40B4-BE49-F238E27FC236}">
                <a16:creationId xmlns:a16="http://schemas.microsoft.com/office/drawing/2014/main" id="{3A2AC5A0-25D9-4F94-03D9-F7DCDD87DB18}"/>
              </a:ext>
            </a:extLst>
          </p:cNvPr>
          <p:cNvSpPr txBox="1"/>
          <p:nvPr/>
        </p:nvSpPr>
        <p:spPr>
          <a:xfrm>
            <a:off x="1739899" y="1217164"/>
            <a:ext cx="186010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주요 기능 </a:t>
            </a:r>
            <a:r>
              <a:rPr lang="en-US" altLang="ko-KR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2 –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방송 후 세션 리포트 및 하이라이트 추출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878FC2E-DC9D-CBF5-25E4-A1C897BC9CEB}"/>
              </a:ext>
            </a:extLst>
          </p:cNvPr>
          <p:cNvSpPr/>
          <p:nvPr/>
        </p:nvSpPr>
        <p:spPr>
          <a:xfrm>
            <a:off x="1435100" y="3035612"/>
            <a:ext cx="11989674" cy="9444174"/>
          </a:xfrm>
          <a:prstGeom prst="roundRect">
            <a:avLst>
              <a:gd name="adj" fmla="val 1955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2A0DEE6-7B0E-772F-575B-BE3D517B9BD3}"/>
              </a:ext>
            </a:extLst>
          </p:cNvPr>
          <p:cNvGrpSpPr/>
          <p:nvPr/>
        </p:nvGrpSpPr>
        <p:grpSpPr>
          <a:xfrm>
            <a:off x="13117918" y="5376492"/>
            <a:ext cx="10619256" cy="4529508"/>
            <a:chOff x="12862230" y="6028346"/>
            <a:chExt cx="10619256" cy="4529508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277710B3-E5DF-AFD5-9B74-6CCFBFDDBCF7}"/>
                </a:ext>
              </a:extLst>
            </p:cNvPr>
            <p:cNvSpPr/>
            <p:nvPr/>
          </p:nvSpPr>
          <p:spPr>
            <a:xfrm>
              <a:off x="13758882" y="6028346"/>
              <a:ext cx="8725692" cy="4529508"/>
            </a:xfrm>
            <a:prstGeom prst="ellipse">
              <a:avLst/>
            </a:prstGeom>
            <a:solidFill>
              <a:srgbClr val="77C2FF">
                <a:alpha val="20000"/>
              </a:srgbClr>
            </a:solidFill>
            <a:ln>
              <a:noFill/>
            </a:ln>
            <a:effectLst>
              <a:softEdge rad="9652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BB10F87-5000-1710-FDD6-01DF0ADA6E43}"/>
                </a:ext>
              </a:extLst>
            </p:cNvPr>
            <p:cNvSpPr txBox="1"/>
            <p:nvPr/>
          </p:nvSpPr>
          <p:spPr>
            <a:xfrm>
              <a:off x="12862230" y="6451698"/>
              <a:ext cx="10619256" cy="32838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4800" b="1" dirty="0">
                  <a:solidFill>
                    <a:srgbClr val="001D67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방송 종료 후 </a:t>
              </a:r>
              <a:endParaRPr lang="en-US" altLang="ko-KR" sz="48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4800" b="1" dirty="0">
                  <a:solidFill>
                    <a:srgbClr val="0135E2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리포트</a:t>
              </a:r>
              <a:r>
                <a:rPr lang="en-US" altLang="ko-KR" sz="4800" b="1" dirty="0">
                  <a:solidFill>
                    <a:srgbClr val="0135E2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, </a:t>
              </a:r>
              <a:r>
                <a:rPr lang="ko-KR" altLang="en-US" sz="4800" b="1" dirty="0" err="1">
                  <a:solidFill>
                    <a:srgbClr val="0135E2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쇼츠</a:t>
              </a:r>
              <a:r>
                <a:rPr lang="en-US" altLang="ko-KR" sz="4800" b="1" dirty="0">
                  <a:solidFill>
                    <a:srgbClr val="0135E2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, </a:t>
              </a:r>
              <a:r>
                <a:rPr lang="ko-KR" altLang="en-US" sz="4800" b="1" dirty="0">
                  <a:solidFill>
                    <a:srgbClr val="0135E2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홍보용 포트폴리오</a:t>
              </a:r>
              <a:r>
                <a:rPr lang="ko-KR" altLang="en-US" sz="4800" b="1" dirty="0">
                  <a:solidFill>
                    <a:srgbClr val="001D67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를</a:t>
              </a:r>
              <a:endParaRPr lang="en-US" altLang="ko-KR" sz="48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4800" b="1" dirty="0">
                  <a:solidFill>
                    <a:srgbClr val="001D67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자동 생성 합니다</a:t>
              </a:r>
              <a:r>
                <a:rPr lang="en-US" altLang="ko-KR" sz="4800" b="1" dirty="0">
                  <a:solidFill>
                    <a:srgbClr val="001D67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.</a:t>
              </a:r>
              <a:endParaRPr lang="ko-KR" altLang="en-US" sz="48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endParaRPr>
            </a:p>
          </p:txBody>
        </p:sp>
      </p:grp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972C69D-A812-5AEC-9D96-FE87D76EE8D0}"/>
              </a:ext>
            </a:extLst>
          </p:cNvPr>
          <p:cNvSpPr/>
          <p:nvPr/>
        </p:nvSpPr>
        <p:spPr>
          <a:xfrm>
            <a:off x="-190500" y="-152400"/>
            <a:ext cx="24765000" cy="138684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59331CE-DAC6-669E-FABD-C6816E494200}"/>
              </a:ext>
            </a:extLst>
          </p:cNvPr>
          <p:cNvSpPr/>
          <p:nvPr/>
        </p:nvSpPr>
        <p:spPr>
          <a:xfrm>
            <a:off x="1664759" y="2403750"/>
            <a:ext cx="17409343" cy="6356705"/>
          </a:xfrm>
          <a:prstGeom prst="roundRect">
            <a:avLst>
              <a:gd name="adj" fmla="val 7052"/>
            </a:avLst>
          </a:prstGeom>
          <a:blipFill>
            <a:blip r:embed="rId6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6560C08-C8E1-236D-121E-E00C8906BA99}"/>
              </a:ext>
            </a:extLst>
          </p:cNvPr>
          <p:cNvSpPr/>
          <p:nvPr/>
        </p:nvSpPr>
        <p:spPr>
          <a:xfrm>
            <a:off x="11266083" y="7877941"/>
            <a:ext cx="11134024" cy="3969983"/>
          </a:xfrm>
          <a:prstGeom prst="roundRect">
            <a:avLst>
              <a:gd name="adj" fmla="val 8754"/>
            </a:avLst>
          </a:prstGeom>
          <a:solidFill>
            <a:schemeClr val="bg1"/>
          </a:solidFill>
          <a:ln w="38100">
            <a:solidFill>
              <a:srgbClr val="EFF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400" dirty="0">
                <a:solidFill>
                  <a:srgbClr val="0135E2"/>
                </a:solidFill>
                <a:latin typeface="Pretendard Bold" panose="020B0600000101010101" charset="-127"/>
                <a:ea typeface="Pretendard Bold" panose="020B0600000101010101" charset="-127"/>
              </a:rPr>
              <a:t>  </a:t>
            </a:r>
            <a:r>
              <a:rPr lang="ko-KR" altLang="en-US" sz="5400" dirty="0">
                <a:solidFill>
                  <a:srgbClr val="0135E2"/>
                </a:solidFill>
                <a:latin typeface="Pretendard Bold" panose="020B0600000101010101" charset="-127"/>
                <a:ea typeface="Pretendard Bold" panose="020B0600000101010101" charset="-127"/>
              </a:rPr>
              <a:t>📺 </a:t>
            </a:r>
            <a:r>
              <a:rPr lang="ko-KR" altLang="en-US" sz="5400" dirty="0">
                <a:solidFill>
                  <a:srgbClr val="002060"/>
                </a:solidFill>
                <a:latin typeface="Pretendard Bold" panose="020B0600000101010101" charset="-127"/>
                <a:ea typeface="Pretendard Bold" panose="020B0600000101010101" charset="-127"/>
              </a:rPr>
              <a:t>방송 요약과 하이라이트 생성 </a:t>
            </a:r>
            <a:r>
              <a:rPr lang="ko-KR" altLang="en-US" sz="5400" dirty="0">
                <a:solidFill>
                  <a:srgbClr val="0135E2"/>
                </a:solidFill>
                <a:latin typeface="Pretendard Bold" panose="020B0600000101010101" charset="-127"/>
                <a:ea typeface="Pretendard Bold" panose="020B0600000101010101" charset="-127"/>
              </a:rPr>
              <a:t>📱</a:t>
            </a:r>
            <a:endParaRPr lang="en-US" altLang="ko-KR" sz="5400" dirty="0">
              <a:solidFill>
                <a:srgbClr val="0135E2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5400" dirty="0">
                <a:solidFill>
                  <a:srgbClr val="0135E2"/>
                </a:solidFill>
                <a:latin typeface="Pretendard Bold" panose="020B0600000101010101" charset="-127"/>
                <a:ea typeface="Pretendard Bold" panose="020B0600000101010101" charset="-127"/>
              </a:rPr>
              <a:t>  </a:t>
            </a: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채팅 반응이 급증한 구간을 자동 탐지해</a:t>
            </a:r>
            <a:r>
              <a:rPr lang="en-US" altLang="ko-KR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방송 </a:t>
            </a:r>
            <a:endParaRPr lang="en-US" altLang="ko-KR" sz="4400" dirty="0">
              <a:solidFill>
                <a:schemeClr val="tx1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</a:t>
            </a: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전체 요약과 </a:t>
            </a:r>
            <a:r>
              <a:rPr lang="ko-KR" altLang="en-US" sz="4400" dirty="0" err="1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쇼츠</a:t>
            </a: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클립까지 한 번에 생성</a:t>
            </a:r>
          </a:p>
        </p:txBody>
      </p:sp>
    </p:spTree>
    <p:extLst>
      <p:ext uri="{BB962C8B-B14F-4D97-AF65-F5344CB8AC3E}">
        <p14:creationId xmlns:p14="http://schemas.microsoft.com/office/powerpoint/2010/main" val="337689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17" grpId="0" animBg="1"/>
      <p:bldP spid="17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ADE24-019F-53D0-775F-A6BE4E664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F96FE84-7B03-9449-0418-8B7B0919EFE0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25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-  </a:t>
            </a:r>
            <a:endParaRPr lang="ko-KR" altLang="en-US" sz="200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1943DE7-4748-1E34-7A04-BE881AF8F0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CA311EA-271B-DD24-B2A8-418ABA0604D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32" name="Picture 4">
            <a:extLst>
              <a:ext uri="{FF2B5EF4-FFF2-40B4-BE49-F238E27FC236}">
                <a16:creationId xmlns:a16="http://schemas.microsoft.com/office/drawing/2014/main" id="{33A5F915-CD63-0226-2EE9-83ABB5581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33" name="TextBox 17">
            <a:extLst>
              <a:ext uri="{FF2B5EF4-FFF2-40B4-BE49-F238E27FC236}">
                <a16:creationId xmlns:a16="http://schemas.microsoft.com/office/drawing/2014/main" id="{97DBFBAF-F92A-6D66-DDA5-1D273A89E44D}"/>
              </a:ext>
            </a:extLst>
          </p:cNvPr>
          <p:cNvSpPr txBox="1"/>
          <p:nvPr/>
        </p:nvSpPr>
        <p:spPr>
          <a:xfrm>
            <a:off x="1739899" y="1217164"/>
            <a:ext cx="186010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주요 기능 </a:t>
            </a:r>
            <a:r>
              <a:rPr lang="en-US" altLang="ko-KR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2 –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방송 후 세션 리포트 및 하이라이트 추출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960FF3A-5E5A-2FB7-2E32-820CFCAF5EE7}"/>
              </a:ext>
            </a:extLst>
          </p:cNvPr>
          <p:cNvSpPr/>
          <p:nvPr/>
        </p:nvSpPr>
        <p:spPr>
          <a:xfrm>
            <a:off x="1435100" y="3035612"/>
            <a:ext cx="11989674" cy="9444174"/>
          </a:xfrm>
          <a:prstGeom prst="roundRect">
            <a:avLst>
              <a:gd name="adj" fmla="val 1955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14068CF-B1B4-CD88-BEEE-2FA34C4219B2}"/>
              </a:ext>
            </a:extLst>
          </p:cNvPr>
          <p:cNvGrpSpPr/>
          <p:nvPr/>
        </p:nvGrpSpPr>
        <p:grpSpPr>
          <a:xfrm>
            <a:off x="13117918" y="5376492"/>
            <a:ext cx="10619256" cy="4529508"/>
            <a:chOff x="12862230" y="6028346"/>
            <a:chExt cx="10619256" cy="4529508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CED052E5-7881-88D2-734F-701B8B5AAC64}"/>
                </a:ext>
              </a:extLst>
            </p:cNvPr>
            <p:cNvSpPr/>
            <p:nvPr/>
          </p:nvSpPr>
          <p:spPr>
            <a:xfrm>
              <a:off x="13758882" y="6028346"/>
              <a:ext cx="8725692" cy="4529508"/>
            </a:xfrm>
            <a:prstGeom prst="ellipse">
              <a:avLst/>
            </a:prstGeom>
            <a:solidFill>
              <a:srgbClr val="77C2FF">
                <a:alpha val="20000"/>
              </a:srgbClr>
            </a:solidFill>
            <a:ln>
              <a:noFill/>
            </a:ln>
            <a:effectLst>
              <a:softEdge rad="9652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3F32A15-337C-B21B-04E0-4902AD3A762A}"/>
                </a:ext>
              </a:extLst>
            </p:cNvPr>
            <p:cNvSpPr txBox="1"/>
            <p:nvPr/>
          </p:nvSpPr>
          <p:spPr>
            <a:xfrm>
              <a:off x="12862230" y="6451698"/>
              <a:ext cx="10619256" cy="32838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4800" b="1" dirty="0">
                  <a:solidFill>
                    <a:srgbClr val="001D67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방송 종료 후 </a:t>
              </a:r>
              <a:endParaRPr lang="en-US" altLang="ko-KR" sz="48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4800" b="1" dirty="0">
                  <a:solidFill>
                    <a:srgbClr val="0135E2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리포트</a:t>
              </a:r>
              <a:r>
                <a:rPr lang="en-US" altLang="ko-KR" sz="4800" b="1" dirty="0">
                  <a:solidFill>
                    <a:srgbClr val="0135E2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, </a:t>
              </a:r>
              <a:r>
                <a:rPr lang="ko-KR" altLang="en-US" sz="4800" b="1" dirty="0" err="1">
                  <a:solidFill>
                    <a:srgbClr val="0135E2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쇼츠</a:t>
              </a:r>
              <a:r>
                <a:rPr lang="en-US" altLang="ko-KR" sz="4800" b="1" dirty="0">
                  <a:solidFill>
                    <a:srgbClr val="0135E2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, </a:t>
              </a:r>
              <a:r>
                <a:rPr lang="ko-KR" altLang="en-US" sz="4800" b="1" dirty="0">
                  <a:solidFill>
                    <a:srgbClr val="0135E2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홍보용 포트폴리오</a:t>
              </a:r>
              <a:r>
                <a:rPr lang="ko-KR" altLang="en-US" sz="4800" b="1" dirty="0">
                  <a:solidFill>
                    <a:srgbClr val="001D67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를</a:t>
              </a:r>
              <a:endParaRPr lang="en-US" altLang="ko-KR" sz="48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4800" b="1" dirty="0">
                  <a:solidFill>
                    <a:srgbClr val="001D67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자동 생성 합니다</a:t>
              </a:r>
              <a:r>
                <a:rPr lang="en-US" altLang="ko-KR" sz="4800" b="1" dirty="0">
                  <a:solidFill>
                    <a:srgbClr val="001D67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.</a:t>
              </a:r>
              <a:endParaRPr lang="ko-KR" altLang="en-US" sz="48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endParaRPr>
            </a:p>
          </p:txBody>
        </p:sp>
      </p:grp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5FC1409-4D7C-AD00-A79E-01764EBDBBD5}"/>
              </a:ext>
            </a:extLst>
          </p:cNvPr>
          <p:cNvSpPr/>
          <p:nvPr/>
        </p:nvSpPr>
        <p:spPr>
          <a:xfrm>
            <a:off x="-228600" y="-152400"/>
            <a:ext cx="24765000" cy="138684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F6DC136-A1BD-12B2-1834-4C5665359BC2}"/>
              </a:ext>
            </a:extLst>
          </p:cNvPr>
          <p:cNvSpPr/>
          <p:nvPr/>
        </p:nvSpPr>
        <p:spPr>
          <a:xfrm>
            <a:off x="1715752" y="2738541"/>
            <a:ext cx="14537436" cy="7167459"/>
          </a:xfrm>
          <a:prstGeom prst="roundRect">
            <a:avLst>
              <a:gd name="adj" fmla="val 4863"/>
            </a:avLst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5E36456-9472-16BB-1A47-2DE77A4B29E2}"/>
              </a:ext>
            </a:extLst>
          </p:cNvPr>
          <p:cNvSpPr/>
          <p:nvPr/>
        </p:nvSpPr>
        <p:spPr>
          <a:xfrm>
            <a:off x="11582400" y="7371685"/>
            <a:ext cx="11163876" cy="3941294"/>
          </a:xfrm>
          <a:prstGeom prst="roundRect">
            <a:avLst>
              <a:gd name="adj" fmla="val 11212"/>
            </a:avLst>
          </a:prstGeom>
          <a:solidFill>
            <a:schemeClr val="bg1"/>
          </a:solidFill>
          <a:ln w="38100">
            <a:solidFill>
              <a:srgbClr val="EFF7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400" dirty="0">
                <a:solidFill>
                  <a:srgbClr val="0135E2"/>
                </a:solidFill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ko-KR" altLang="en-US" sz="5400" dirty="0">
                <a:solidFill>
                  <a:srgbClr val="0135E2"/>
                </a:solidFill>
                <a:latin typeface="Pretendard Bold" panose="020B0600000101010101" charset="-127"/>
                <a:ea typeface="Pretendard Bold" panose="020B0600000101010101" charset="-127"/>
              </a:rPr>
              <a:t>👩‍🏫 </a:t>
            </a:r>
            <a:r>
              <a:rPr lang="ko-KR" altLang="en-US" sz="5400" dirty="0">
                <a:solidFill>
                  <a:schemeClr val="accent3">
                    <a:lumMod val="50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방송 개선안 제안 </a:t>
            </a:r>
            <a:r>
              <a:rPr lang="ko-KR" altLang="en-US" sz="5400" dirty="0">
                <a:solidFill>
                  <a:srgbClr val="0135E2"/>
                </a:solidFill>
                <a:latin typeface="Pretendard Bold" panose="020B0600000101010101" charset="-127"/>
                <a:ea typeface="Pretendard Bold" panose="020B0600000101010101" charset="-127"/>
              </a:rPr>
              <a:t>📖</a:t>
            </a:r>
            <a:endParaRPr lang="en-US" altLang="ko-KR" sz="5400" dirty="0">
              <a:solidFill>
                <a:srgbClr val="0135E2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 시청자가 들어오고 빠진 순간의 원인을 분석해</a:t>
            </a:r>
            <a:r>
              <a:rPr lang="en-US" altLang="ko-KR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 </a:t>
            </a: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다음 방송에 바로 적용할 개선 포인트 제시</a:t>
            </a:r>
          </a:p>
        </p:txBody>
      </p:sp>
    </p:spTree>
    <p:extLst>
      <p:ext uri="{BB962C8B-B14F-4D97-AF65-F5344CB8AC3E}">
        <p14:creationId xmlns:p14="http://schemas.microsoft.com/office/powerpoint/2010/main" val="4009985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F7711F-25AC-6849-AE93-8F03E721A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3538375-84BF-5348-49B7-9C885F4D46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9E1948C-1F67-A2DD-A18D-5B22AC9823E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FB4657F2-D99D-4C73-BAF6-65EF8ACE6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22" name="TextBox 17">
            <a:extLst>
              <a:ext uri="{FF2B5EF4-FFF2-40B4-BE49-F238E27FC236}">
                <a16:creationId xmlns:a16="http://schemas.microsoft.com/office/drawing/2014/main" id="{FA2B425D-BB27-4BAD-AFFE-C67BBA107979}"/>
              </a:ext>
            </a:extLst>
          </p:cNvPr>
          <p:cNvSpPr txBox="1"/>
          <p:nvPr/>
        </p:nvSpPr>
        <p:spPr>
          <a:xfrm>
            <a:off x="1739899" y="1217164"/>
            <a:ext cx="186010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주요 기능 </a:t>
            </a:r>
            <a:r>
              <a:rPr lang="en-US" altLang="ko-KR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2 –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방송 후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81EC7C4-C3AC-0938-726E-55DC1EFE8485}"/>
              </a:ext>
            </a:extLst>
          </p:cNvPr>
          <p:cNvSpPr/>
          <p:nvPr/>
        </p:nvSpPr>
        <p:spPr>
          <a:xfrm>
            <a:off x="1752600" y="2940766"/>
            <a:ext cx="13881101" cy="9251234"/>
          </a:xfrm>
          <a:prstGeom prst="roundRect">
            <a:avLst>
              <a:gd name="adj" fmla="val 1955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66B020E-9B4F-63B4-AC36-2CB237AF7906}"/>
              </a:ext>
            </a:extLst>
          </p:cNvPr>
          <p:cNvSpPr/>
          <p:nvPr/>
        </p:nvSpPr>
        <p:spPr>
          <a:xfrm>
            <a:off x="8564176" y="7892295"/>
            <a:ext cx="14668500" cy="4420356"/>
          </a:xfrm>
          <a:prstGeom prst="roundRect">
            <a:avLst>
              <a:gd name="adj" fmla="val 5419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400" dirty="0">
                <a:solidFill>
                  <a:srgbClr val="0135E2"/>
                </a:solidFill>
                <a:latin typeface="Pretendard Bold" panose="020B0600000101010101" charset="-127"/>
                <a:ea typeface="Pretendard Bold" panose="020B0600000101010101" charset="-127"/>
              </a:rPr>
              <a:t>   </a:t>
            </a:r>
            <a:r>
              <a:rPr lang="ko-KR" altLang="en-US" sz="5400" dirty="0">
                <a:solidFill>
                  <a:srgbClr val="0135E2"/>
                </a:solidFill>
                <a:latin typeface="Pretendard Bold" panose="020B0600000101010101" charset="-127"/>
                <a:ea typeface="Pretendard Bold" panose="020B0600000101010101" charset="-127"/>
              </a:rPr>
              <a:t>💼</a:t>
            </a:r>
            <a:r>
              <a:rPr lang="en-US" altLang="ko-KR" sz="5400" dirty="0">
                <a:solidFill>
                  <a:srgbClr val="0135E2"/>
                </a:solidFill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ko-KR" altLang="en-US" sz="5400" dirty="0" err="1">
                <a:solidFill>
                  <a:schemeClr val="accent2">
                    <a:lumMod val="50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스트리머</a:t>
            </a:r>
            <a:r>
              <a:rPr lang="ko-KR" altLang="en-US" sz="5400" dirty="0">
                <a:solidFill>
                  <a:schemeClr val="accent2">
                    <a:lumMod val="50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 협업</a:t>
            </a:r>
            <a:r>
              <a:rPr lang="en-US" altLang="ko-KR" sz="5400" dirty="0">
                <a:solidFill>
                  <a:schemeClr val="accent2">
                    <a:lumMod val="50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, </a:t>
            </a:r>
            <a:r>
              <a:rPr lang="ko-KR" altLang="en-US" sz="5400" dirty="0">
                <a:solidFill>
                  <a:schemeClr val="accent2">
                    <a:lumMod val="50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비즈니스를 위한 프로필 제공</a:t>
            </a:r>
            <a:endParaRPr lang="en-US" altLang="ko-KR" sz="5400" dirty="0">
              <a:solidFill>
                <a:schemeClr val="accent2">
                  <a:lumMod val="50000"/>
                </a:schemeClr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</a:t>
            </a:r>
            <a:r>
              <a:rPr lang="ko-KR" altLang="en-US" sz="4400" b="1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방송 실적 및 시청자층</a:t>
            </a:r>
            <a:r>
              <a:rPr lang="en-US" altLang="ko-KR" sz="4400" b="1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4400" b="1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하이라이트 기반</a:t>
            </a: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의 태그로 비즈니스용 </a:t>
            </a:r>
            <a:endParaRPr lang="en-US" altLang="ko-KR" sz="4400" dirty="0">
              <a:solidFill>
                <a:schemeClr val="tx1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</a:t>
            </a: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프로필을 자동 생성하여</a:t>
            </a:r>
            <a:r>
              <a:rPr lang="en-US" altLang="ko-KR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협업 허들을 낮춤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3A9B06-7FC1-4CEF-887A-52759141EC9C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26 -  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580482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F7711F-25AC-6849-AE93-8F03E721A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3538375-84BF-5348-49B7-9C885F4D46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9E1948C-1F67-A2DD-A18D-5B22AC9823E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B53DDB31-996E-4F0D-B0CC-8DAA66ACFA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22" name="TextBox 17">
            <a:extLst>
              <a:ext uri="{FF2B5EF4-FFF2-40B4-BE49-F238E27FC236}">
                <a16:creationId xmlns:a16="http://schemas.microsoft.com/office/drawing/2014/main" id="{8A6C091A-B034-455E-A4B3-1612A594AD42}"/>
              </a:ext>
            </a:extLst>
          </p:cNvPr>
          <p:cNvSpPr txBox="1"/>
          <p:nvPr/>
        </p:nvSpPr>
        <p:spPr>
          <a:xfrm>
            <a:off x="1739899" y="1217164"/>
            <a:ext cx="186010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주요 기능 </a:t>
            </a:r>
            <a:r>
              <a:rPr lang="en-US" altLang="ko-KR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2 –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방송 후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3510108-A20D-578D-93E3-9656B5A7045A}"/>
              </a:ext>
            </a:extLst>
          </p:cNvPr>
          <p:cNvSpPr/>
          <p:nvPr/>
        </p:nvSpPr>
        <p:spPr>
          <a:xfrm>
            <a:off x="1769208" y="2895600"/>
            <a:ext cx="17356992" cy="9378887"/>
          </a:xfrm>
          <a:prstGeom prst="roundRect">
            <a:avLst>
              <a:gd name="adj" fmla="val 1955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773BAD4-F1A1-D7F9-A574-5658B125A72B}"/>
              </a:ext>
            </a:extLst>
          </p:cNvPr>
          <p:cNvSpPr/>
          <p:nvPr/>
        </p:nvSpPr>
        <p:spPr>
          <a:xfrm>
            <a:off x="10095845" y="4816635"/>
            <a:ext cx="12383155" cy="4378165"/>
          </a:xfrm>
          <a:prstGeom prst="roundRect">
            <a:avLst>
              <a:gd name="adj" fmla="val 6046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400" dirty="0">
                <a:solidFill>
                  <a:srgbClr val="0135E2"/>
                </a:solidFill>
                <a:latin typeface="Pretendard Bold" panose="020B0600000101010101" charset="-127"/>
                <a:ea typeface="Pretendard Bold" panose="020B0600000101010101" charset="-127"/>
              </a:rPr>
              <a:t>   </a:t>
            </a:r>
            <a:r>
              <a:rPr lang="ko-KR" altLang="en-US" sz="5400" dirty="0">
                <a:solidFill>
                  <a:srgbClr val="0135E2"/>
                </a:solidFill>
                <a:latin typeface="Pretendard Bold" panose="020B0600000101010101" charset="-127"/>
                <a:ea typeface="Pretendard Bold" panose="020B0600000101010101" charset="-127"/>
              </a:rPr>
              <a:t>💌 </a:t>
            </a:r>
            <a:r>
              <a:rPr lang="ko-KR" altLang="en-US" sz="5400" dirty="0">
                <a:solidFill>
                  <a:srgbClr val="BD03B0"/>
                </a:solidFill>
                <a:latin typeface="Pretendard Bold" panose="020B0600000101010101" charset="-127"/>
                <a:ea typeface="Pretendard Bold" panose="020B0600000101010101" charset="-127"/>
              </a:rPr>
              <a:t>회원 기반 비즈니스 매칭 </a:t>
            </a:r>
            <a:r>
              <a:rPr lang="ko-KR" altLang="en-US" sz="5400" dirty="0">
                <a:solidFill>
                  <a:srgbClr val="0135E2"/>
                </a:solidFill>
                <a:latin typeface="Pretendard Bold" panose="020B0600000101010101" charset="-127"/>
                <a:ea typeface="Pretendard Bold" panose="020B0600000101010101" charset="-127"/>
              </a:rPr>
              <a:t>💌</a:t>
            </a:r>
            <a:endParaRPr lang="en-US" altLang="ko-KR" sz="5400" dirty="0">
              <a:solidFill>
                <a:srgbClr val="0135E2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5400" dirty="0">
                <a:solidFill>
                  <a:srgbClr val="0135E2"/>
                </a:solidFill>
                <a:latin typeface="Pretendard Bold" panose="020B0600000101010101" charset="-127"/>
                <a:ea typeface="Pretendard Bold" panose="020B0600000101010101" charset="-127"/>
              </a:rPr>
              <a:t>   </a:t>
            </a: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채널 및 태그</a:t>
            </a:r>
            <a:r>
              <a:rPr lang="en-US" altLang="ko-KR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카테고리</a:t>
            </a:r>
            <a:r>
              <a:rPr lang="en-US" altLang="ko-KR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규모 등 </a:t>
            </a:r>
            <a:r>
              <a:rPr lang="ko-KR" altLang="en-US" sz="4400" dirty="0" err="1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스트리머</a:t>
            </a:r>
            <a:r>
              <a:rPr lang="en-US" altLang="ko-KR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·</a:t>
            </a: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광고주    </a:t>
            </a:r>
            <a:endParaRPr lang="en-US" altLang="ko-KR" sz="4400" dirty="0">
              <a:solidFill>
                <a:schemeClr val="tx1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</a:t>
            </a: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공용</a:t>
            </a:r>
            <a:r>
              <a:rPr lang="en-US" altLang="ko-KR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 </a:t>
            </a: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검색</a:t>
            </a:r>
            <a:r>
              <a:rPr lang="en-US" altLang="ko-KR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·</a:t>
            </a:r>
            <a:r>
              <a:rPr lang="ko-KR" altLang="en-US" sz="4400" dirty="0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필터 기반 포트폴리오 열람 및 </a:t>
            </a:r>
            <a:r>
              <a:rPr lang="ko-KR" altLang="en-US" sz="4400" dirty="0" err="1">
                <a:solidFill>
                  <a:schemeClr val="tx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컨택</a:t>
            </a:r>
            <a:endParaRPr lang="ko-KR" altLang="en-US" sz="4400" dirty="0">
              <a:solidFill>
                <a:schemeClr val="tx1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014794-D831-4540-8FD6-E279A3AF5F0C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27 -  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917445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  <a:effectLst>
            <a:outerShdw blurRad="50800" dist="50800" dir="5400000" algn="ctr" rotWithShape="0">
              <a:srgbClr val="EAF6FE"/>
            </a:outerShdw>
          </a:effectLst>
        </p:spPr>
      </p:pic>
      <p:pic>
        <p:nvPicPr>
          <p:cNvPr id="27" name="Picture 3">
            <a:extLst>
              <a:ext uri="{FF2B5EF4-FFF2-40B4-BE49-F238E27FC236}">
                <a16:creationId xmlns:a16="http://schemas.microsoft.com/office/drawing/2014/main" id="{FD4F65F2-93F1-47EC-84B1-EB91CC6C9B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-2438400" y="9042400"/>
            <a:ext cx="7797800" cy="8242300"/>
          </a:xfrm>
          <a:prstGeom prst="rect">
            <a:avLst/>
          </a:prstGeom>
        </p:spPr>
      </p:pic>
      <p:pic>
        <p:nvPicPr>
          <p:cNvPr id="26" name="Picture 2">
            <a:extLst>
              <a:ext uri="{FF2B5EF4-FFF2-40B4-BE49-F238E27FC236}">
                <a16:creationId xmlns:a16="http://schemas.microsoft.com/office/drawing/2014/main" id="{A049FB49-352B-4A29-A852-BAD14D84A8C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8770600" y="-1649413"/>
            <a:ext cx="7797800" cy="8242300"/>
          </a:xfrm>
          <a:prstGeom prst="rect">
            <a:avLst/>
          </a:prstGeom>
          <a:effectLst>
            <a:outerShdw blurRad="50800" dist="50800" dir="5400000" algn="ctr" rotWithShape="0">
              <a:srgbClr val="EAF6FE"/>
            </a:outerShdw>
          </a:effectLst>
        </p:spPr>
      </p:pic>
      <p:pic>
        <p:nvPicPr>
          <p:cNvPr id="29" name="Picture 3">
            <a:extLst>
              <a:ext uri="{FF2B5EF4-FFF2-40B4-BE49-F238E27FC236}">
                <a16:creationId xmlns:a16="http://schemas.microsoft.com/office/drawing/2014/main" id="{F4034FA1-8ED0-40E9-BAD8-7233EDA14F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-2413000" y="9042400"/>
            <a:ext cx="7797800" cy="8242300"/>
          </a:xfrm>
          <a:prstGeom prst="rect">
            <a:avLst/>
          </a:prstGeom>
        </p:spPr>
      </p:pic>
      <p:pic>
        <p:nvPicPr>
          <p:cNvPr id="28" name="Picture 2">
            <a:extLst>
              <a:ext uri="{FF2B5EF4-FFF2-40B4-BE49-F238E27FC236}">
                <a16:creationId xmlns:a16="http://schemas.microsoft.com/office/drawing/2014/main" id="{96185ECE-7E09-41F2-8307-9E13548ACB7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8796000" y="-1649413"/>
            <a:ext cx="7797800" cy="8242300"/>
          </a:xfrm>
          <a:prstGeom prst="rect">
            <a:avLst/>
          </a:prstGeom>
          <a:effectLst>
            <a:outerShdw blurRad="50800" dist="50800" dir="5400000" algn="ctr" rotWithShape="0">
              <a:srgbClr val="EAF6FE"/>
            </a:outerShdw>
          </a:effectLst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id="{EF0AA492-31C0-4200-98D5-A87DB2D7E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E5BCEC3-062B-4D49-AF3A-6BAD50AE8A5C}"/>
              </a:ext>
            </a:extLst>
          </p:cNvPr>
          <p:cNvSpPr/>
          <p:nvPr/>
        </p:nvSpPr>
        <p:spPr>
          <a:xfrm>
            <a:off x="8966111" y="4312750"/>
            <a:ext cx="13598569" cy="4337557"/>
          </a:xfrm>
          <a:prstGeom prst="roundRect">
            <a:avLst>
              <a:gd name="adj" fmla="val 6046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4400" dirty="0">
              <a:solidFill>
                <a:schemeClr val="tx1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025A894-5982-4E45-A172-434F5DED7EBA}"/>
              </a:ext>
            </a:extLst>
          </p:cNvPr>
          <p:cNvSpPr/>
          <p:nvPr/>
        </p:nvSpPr>
        <p:spPr>
          <a:xfrm>
            <a:off x="1739900" y="4312751"/>
            <a:ext cx="6351248" cy="4330495"/>
          </a:xfrm>
          <a:prstGeom prst="roundRect">
            <a:avLst>
              <a:gd name="adj" fmla="val 6046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4400" dirty="0">
              <a:solidFill>
                <a:schemeClr val="tx1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84412542-8A24-4CC8-9DDD-EAC2290EA068}"/>
              </a:ext>
            </a:extLst>
          </p:cNvPr>
          <p:cNvSpPr txBox="1"/>
          <p:nvPr/>
        </p:nvSpPr>
        <p:spPr>
          <a:xfrm>
            <a:off x="1739899" y="1217164"/>
            <a:ext cx="186010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적용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기술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0A5A84-E134-4DD2-B289-AF04AE54F29E}"/>
              </a:ext>
            </a:extLst>
          </p:cNvPr>
          <p:cNvSpPr txBox="1"/>
          <p:nvPr/>
        </p:nvSpPr>
        <p:spPr>
          <a:xfrm>
            <a:off x="6743863" y="11436347"/>
            <a:ext cx="11277600" cy="11085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ko-KR" altLang="en-US" sz="48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rPr>
              <a:t>특정 트리거를 통해 </a:t>
            </a:r>
            <a:r>
              <a:rPr lang="en-US" altLang="ko-KR" sz="48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rPr>
              <a:t>start, end </a:t>
            </a:r>
            <a:r>
              <a:rPr lang="ko-KR" altLang="en-US" sz="4800" b="1" dirty="0">
                <a:solidFill>
                  <a:srgbClr val="001D67"/>
                </a:solidFill>
                <a:latin typeface="Pretendard Bold" panose="020B0600000101010101" charset="-127"/>
                <a:ea typeface="Pretendard Bold" panose="020B0600000101010101" charset="-127"/>
              </a:rPr>
              <a:t>시간 기록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7A262AE-A9CC-4E4C-999E-BB6CC6300BE2}"/>
              </a:ext>
            </a:extLst>
          </p:cNvPr>
          <p:cNvGrpSpPr/>
          <p:nvPr/>
        </p:nvGrpSpPr>
        <p:grpSpPr>
          <a:xfrm>
            <a:off x="9727412" y="3740219"/>
            <a:ext cx="4926905" cy="4903027"/>
            <a:chOff x="9144000" y="4139373"/>
            <a:chExt cx="4926905" cy="4903027"/>
          </a:xfrm>
        </p:grpSpPr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15705030-D2E0-44B5-8AE5-606C067F09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08107" y="4808537"/>
              <a:ext cx="4587834" cy="42338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DD69294D-CCE2-45C7-A5FE-296D9489C6C2}"/>
                </a:ext>
              </a:extLst>
            </p:cNvPr>
            <p:cNvSpPr/>
            <p:nvPr/>
          </p:nvSpPr>
          <p:spPr>
            <a:xfrm>
              <a:off x="9144000" y="4139373"/>
              <a:ext cx="4926905" cy="1068454"/>
            </a:xfrm>
            <a:prstGeom prst="roundRect">
              <a:avLst>
                <a:gd name="adj" fmla="val 50000"/>
              </a:avLst>
            </a:prstGeom>
            <a:solidFill>
              <a:srgbClr val="001D67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4400" dirty="0">
                  <a:solidFill>
                    <a:schemeClr val="bg1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발화 구간 탐지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A6A5449-A117-4CD9-9462-3CA46BE308D2}"/>
              </a:ext>
            </a:extLst>
          </p:cNvPr>
          <p:cNvGrpSpPr/>
          <p:nvPr/>
        </p:nvGrpSpPr>
        <p:grpSpPr>
          <a:xfrm>
            <a:off x="16889413" y="3740219"/>
            <a:ext cx="5214937" cy="3854493"/>
            <a:chOff x="15940534" y="4139373"/>
            <a:chExt cx="5214937" cy="3854493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DAAFDB7B-E3DD-4859-8E9C-164DD2E5645E}"/>
                </a:ext>
              </a:extLst>
            </p:cNvPr>
            <p:cNvSpPr/>
            <p:nvPr/>
          </p:nvSpPr>
          <p:spPr>
            <a:xfrm>
              <a:off x="16084551" y="4139373"/>
              <a:ext cx="4926905" cy="1068454"/>
            </a:xfrm>
            <a:prstGeom prst="roundRect">
              <a:avLst>
                <a:gd name="adj" fmla="val 50000"/>
              </a:avLst>
            </a:prstGeom>
            <a:solidFill>
              <a:srgbClr val="001D67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dirty="0">
                  <a:solidFill>
                    <a:schemeClr val="bg1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STT</a:t>
              </a:r>
              <a:endParaRPr lang="ko-KR" altLang="en-US" sz="4400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</a:endParaRPr>
            </a:p>
          </p:txBody>
        </p:sp>
        <p:pic>
          <p:nvPicPr>
            <p:cNvPr id="5124" name="Picture 4">
              <a:extLst>
                <a:ext uri="{FF2B5EF4-FFF2-40B4-BE49-F238E27FC236}">
                  <a16:creationId xmlns:a16="http://schemas.microsoft.com/office/drawing/2014/main" id="{D16FA593-EAB5-409D-A534-9133733C4B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40534" y="5275724"/>
              <a:ext cx="5214937" cy="27181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61C015B-7116-4333-8CD5-55633AD1447B}"/>
              </a:ext>
            </a:extLst>
          </p:cNvPr>
          <p:cNvGrpSpPr/>
          <p:nvPr/>
        </p:nvGrpSpPr>
        <p:grpSpPr>
          <a:xfrm>
            <a:off x="2230401" y="3740219"/>
            <a:ext cx="5261915" cy="4724893"/>
            <a:chOff x="2110388" y="4139373"/>
            <a:chExt cx="5261915" cy="4724893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8B9F32BC-1A4E-4A5A-BCA8-912E05077834}"/>
                </a:ext>
              </a:extLst>
            </p:cNvPr>
            <p:cNvSpPr/>
            <p:nvPr/>
          </p:nvSpPr>
          <p:spPr>
            <a:xfrm>
              <a:off x="2344148" y="4139373"/>
              <a:ext cx="4926905" cy="1068454"/>
            </a:xfrm>
            <a:prstGeom prst="roundRect">
              <a:avLst>
                <a:gd name="adj" fmla="val 50000"/>
              </a:avLst>
            </a:prstGeom>
            <a:solidFill>
              <a:srgbClr val="001D67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dirty="0">
                  <a:solidFill>
                    <a:schemeClr val="bg1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API </a:t>
              </a:r>
              <a:r>
                <a:rPr lang="ko-KR" altLang="en-US" sz="4400" dirty="0">
                  <a:solidFill>
                    <a:schemeClr val="bg1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채팅</a:t>
              </a: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7D3CBD85-7950-4C42-B539-606589953661}"/>
                </a:ext>
              </a:extLst>
            </p:cNvPr>
            <p:cNvGrpSpPr/>
            <p:nvPr/>
          </p:nvGrpSpPr>
          <p:grpSpPr>
            <a:xfrm>
              <a:off x="2110388" y="5205936"/>
              <a:ext cx="5261915" cy="3658330"/>
              <a:chOff x="13182600" y="13602206"/>
              <a:chExt cx="5261915" cy="3658330"/>
            </a:xfrm>
          </p:grpSpPr>
          <p:pic>
            <p:nvPicPr>
              <p:cNvPr id="19" name="Picture 2">
                <a:extLst>
                  <a:ext uri="{FF2B5EF4-FFF2-40B4-BE49-F238E27FC236}">
                    <a16:creationId xmlns:a16="http://schemas.microsoft.com/office/drawing/2014/main" id="{8EBCCDD0-2931-46EA-BABD-50B0A58C04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5417" b="22888"/>
              <a:stretch/>
            </p:blipFill>
            <p:spPr bwMode="auto">
              <a:xfrm>
                <a:off x="13182600" y="13602206"/>
                <a:ext cx="5261915" cy="152834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" name="Picture 4">
                <a:extLst>
                  <a:ext uri="{FF2B5EF4-FFF2-40B4-BE49-F238E27FC236}">
                    <a16:creationId xmlns:a16="http://schemas.microsoft.com/office/drawing/2014/main" id="{A669C703-68AC-44A5-857C-28E0DAA495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2282" b="25427"/>
              <a:stretch/>
            </p:blipFill>
            <p:spPr bwMode="auto">
              <a:xfrm>
                <a:off x="14194968" y="16140470"/>
                <a:ext cx="3501094" cy="11200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1" name="Picture 8">
                <a:extLst>
                  <a:ext uri="{FF2B5EF4-FFF2-40B4-BE49-F238E27FC236}">
                    <a16:creationId xmlns:a16="http://schemas.microsoft.com/office/drawing/2014/main" id="{58319EEA-CF40-4357-816C-A4739E13D53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469" b="28843"/>
              <a:stretch/>
            </p:blipFill>
            <p:spPr bwMode="auto">
              <a:xfrm>
                <a:off x="13958932" y="14952589"/>
                <a:ext cx="3709249" cy="11878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5126" name="Picture 6">
            <a:extLst>
              <a:ext uri="{FF2B5EF4-FFF2-40B4-BE49-F238E27FC236}">
                <a16:creationId xmlns:a16="http://schemas.microsoft.com/office/drawing/2014/main" id="{AA8128D1-5092-4B96-BFE1-972C7F0E7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0857" y="9067800"/>
            <a:ext cx="5243612" cy="2405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F6D6CE1-2CDB-438E-88BC-F77662DA8371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28 -  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63536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id="{EF0AA492-31C0-4200-98D5-A87DB2D7E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15" name="TextBox 17">
            <a:extLst>
              <a:ext uri="{FF2B5EF4-FFF2-40B4-BE49-F238E27FC236}">
                <a16:creationId xmlns:a16="http://schemas.microsoft.com/office/drawing/2014/main" id="{84412542-8A24-4CC8-9DDD-EAC2290EA068}"/>
              </a:ext>
            </a:extLst>
          </p:cNvPr>
          <p:cNvSpPr txBox="1"/>
          <p:nvPr/>
        </p:nvSpPr>
        <p:spPr>
          <a:xfrm>
            <a:off x="1739899" y="1217164"/>
            <a:ext cx="186010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적용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기술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0A5A84-E134-4DD2-B289-AF04AE54F29E}"/>
              </a:ext>
            </a:extLst>
          </p:cNvPr>
          <p:cNvSpPr txBox="1"/>
          <p:nvPr/>
        </p:nvSpPr>
        <p:spPr>
          <a:xfrm>
            <a:off x="2651760" y="10212957"/>
            <a:ext cx="19110960" cy="17182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ko-KR" altLang="en-US" sz="8000" b="1" dirty="0">
                <a:solidFill>
                  <a:srgbClr val="16265C"/>
                </a:solidFill>
                <a:latin typeface="Pretendard Bold" panose="020B0600000101010101" charset="-127"/>
                <a:ea typeface="Pretendard Bold" panose="020B0600000101010101" charset="-127"/>
              </a:rPr>
              <a:t>방송 채팅 데이터 활용 하이라이트 구간 추출</a:t>
            </a:r>
            <a:endParaRPr lang="en-US" altLang="ko-KR" sz="8000" b="1" dirty="0">
              <a:solidFill>
                <a:srgbClr val="001D67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9D2B007-F749-4852-BEF0-96F7C651A0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52600" y="2871500"/>
            <a:ext cx="27174608" cy="659954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963A356-FF0B-48F3-BA78-DCCB2E9D1C77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29 -  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802303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5">
            <a:extLst>
              <a:ext uri="{FF2B5EF4-FFF2-40B4-BE49-F238E27FC236}">
                <a16:creationId xmlns:a16="http://schemas.microsoft.com/office/drawing/2014/main" id="{04ADF442-BEB5-4DA4-BEEE-C83DAC0E0246}"/>
              </a:ext>
            </a:extLst>
          </p:cNvPr>
          <p:cNvSpPr/>
          <p:nvPr/>
        </p:nvSpPr>
        <p:spPr>
          <a:xfrm>
            <a:off x="8254362" y="6627931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기획자</a:t>
            </a:r>
            <a:endParaRPr lang="en-US" sz="4800" dirty="0">
              <a:solidFill>
                <a:schemeClr val="bg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5D29B07C-4C76-4131-ACF8-0C4ACE6F27C1}"/>
              </a:ext>
            </a:extLst>
          </p:cNvPr>
          <p:cNvSpPr/>
          <p:nvPr/>
        </p:nvSpPr>
        <p:spPr>
          <a:xfrm>
            <a:off x="8826820" y="6626041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 err="1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매니저</a:t>
            </a:r>
            <a:endParaRPr lang="en-US" sz="4800" dirty="0">
              <a:solidFill>
                <a:schemeClr val="bg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ECF0B666-0C68-4F32-975D-D56161BE4B8B}"/>
              </a:ext>
            </a:extLst>
          </p:cNvPr>
          <p:cNvSpPr/>
          <p:nvPr/>
        </p:nvSpPr>
        <p:spPr>
          <a:xfrm>
            <a:off x="8518206" y="6665888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편집자</a:t>
            </a:r>
            <a:r>
              <a:rPr lang="en-US" altLang="ko-KR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, </a:t>
            </a:r>
            <a:r>
              <a:rPr lang="ko-KR" altLang="en-US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마케터</a:t>
            </a:r>
            <a:endParaRPr lang="en-US" sz="4800" dirty="0">
              <a:solidFill>
                <a:schemeClr val="bg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3839" y="-1568450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28" name="Picture 4">
            <a:extLst>
              <a:ext uri="{FF2B5EF4-FFF2-40B4-BE49-F238E27FC236}">
                <a16:creationId xmlns:a16="http://schemas.microsoft.com/office/drawing/2014/main" id="{669A76E8-654B-4F23-9659-3AC3559EF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E9BE392-8DDC-4CB6-9C11-222DA958ED5E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30 -  </a:t>
            </a:r>
            <a:endParaRPr lang="ko-KR" alt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75E544-1481-4784-A9EB-4715AE81AAD1}"/>
              </a:ext>
            </a:extLst>
          </p:cNvPr>
          <p:cNvSpPr txBox="1"/>
          <p:nvPr/>
        </p:nvSpPr>
        <p:spPr>
          <a:xfrm>
            <a:off x="2778080" y="5350012"/>
            <a:ext cx="18827839" cy="20433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2000"/>
              </a:spcAft>
            </a:pPr>
            <a:r>
              <a:rPr lang="en-US" altLang="ko-KR" sz="9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3. </a:t>
            </a:r>
            <a:r>
              <a:rPr lang="ko-KR" altLang="en-US" sz="9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사용자 흐름도</a:t>
            </a:r>
            <a:endParaRPr lang="en-US" altLang="ko-KR" sz="23900" b="1" dirty="0">
              <a:solidFill>
                <a:schemeClr val="tx1">
                  <a:lumMod val="75000"/>
                  <a:lumOff val="25000"/>
                </a:schemeClr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23750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439F45D5-50D0-4F7A-8DA6-18F8552F3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12" name="TextBox 17">
            <a:extLst>
              <a:ext uri="{FF2B5EF4-FFF2-40B4-BE49-F238E27FC236}">
                <a16:creationId xmlns:a16="http://schemas.microsoft.com/office/drawing/2014/main" id="{EF4BE1E3-3887-4EC0-BA44-1D973B2A3096}"/>
              </a:ext>
            </a:extLst>
          </p:cNvPr>
          <p:cNvSpPr txBox="1"/>
          <p:nvPr/>
        </p:nvSpPr>
        <p:spPr>
          <a:xfrm>
            <a:off x="1739899" y="1217164"/>
            <a:ext cx="186010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서비스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흐름도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–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화면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기준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사용자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여정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E5E963D-0C31-26FB-7817-8330463658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48" y="1524000"/>
            <a:ext cx="23738703" cy="12547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43031F-BAEF-49F2-B163-59440B1EDB0A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31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-  </a:t>
            </a:r>
            <a:endParaRPr lang="ko-KR" altLang="en-US" sz="2000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CD5CAB2-2F6B-44B3-BD7A-573B50CE0751}"/>
              </a:ext>
            </a:extLst>
          </p:cNvPr>
          <p:cNvSpPr/>
          <p:nvPr/>
        </p:nvSpPr>
        <p:spPr>
          <a:xfrm>
            <a:off x="3581400" y="6477000"/>
            <a:ext cx="2819400" cy="1752600"/>
          </a:xfrm>
          <a:prstGeom prst="roundRect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6D05FBB-B141-4C38-A89F-335B4E472D58}"/>
              </a:ext>
            </a:extLst>
          </p:cNvPr>
          <p:cNvSpPr/>
          <p:nvPr/>
        </p:nvSpPr>
        <p:spPr>
          <a:xfrm>
            <a:off x="6849096" y="5006928"/>
            <a:ext cx="2819400" cy="1752600"/>
          </a:xfrm>
          <a:prstGeom prst="roundRect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7FBA7F0-780C-4BA8-B374-AAB4BD5B9FFF}"/>
              </a:ext>
            </a:extLst>
          </p:cNvPr>
          <p:cNvSpPr/>
          <p:nvPr/>
        </p:nvSpPr>
        <p:spPr>
          <a:xfrm>
            <a:off x="6769100" y="7933877"/>
            <a:ext cx="2819400" cy="1752600"/>
          </a:xfrm>
          <a:prstGeom prst="roundRect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30B0B89-1E29-41E7-95CB-BC2D7DD742D5}"/>
              </a:ext>
            </a:extLst>
          </p:cNvPr>
          <p:cNvSpPr/>
          <p:nvPr/>
        </p:nvSpPr>
        <p:spPr>
          <a:xfrm>
            <a:off x="10036796" y="5943600"/>
            <a:ext cx="3298204" cy="2133600"/>
          </a:xfrm>
          <a:prstGeom prst="roundRect">
            <a:avLst>
              <a:gd name="adj" fmla="val 5757"/>
            </a:avLst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A20239D-292D-4FD6-8AB8-C0D938F1D48C}"/>
              </a:ext>
            </a:extLst>
          </p:cNvPr>
          <p:cNvSpPr/>
          <p:nvPr/>
        </p:nvSpPr>
        <p:spPr>
          <a:xfrm>
            <a:off x="13944600" y="5006928"/>
            <a:ext cx="2971800" cy="1393872"/>
          </a:xfrm>
          <a:prstGeom prst="roundRect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F7681A4-E74C-4F7A-B068-137B5A025C0C}"/>
              </a:ext>
            </a:extLst>
          </p:cNvPr>
          <p:cNvSpPr/>
          <p:nvPr/>
        </p:nvSpPr>
        <p:spPr>
          <a:xfrm>
            <a:off x="13944600" y="6759528"/>
            <a:ext cx="2971800" cy="1393872"/>
          </a:xfrm>
          <a:prstGeom prst="roundRect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3758AAD-3A23-478F-B088-A98E924BFC07}"/>
              </a:ext>
            </a:extLst>
          </p:cNvPr>
          <p:cNvSpPr/>
          <p:nvPr/>
        </p:nvSpPr>
        <p:spPr>
          <a:xfrm>
            <a:off x="13944600" y="8588328"/>
            <a:ext cx="2971800" cy="1393872"/>
          </a:xfrm>
          <a:prstGeom prst="roundRect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7E1186A-09BC-4D4E-AB96-4A93B1FCA551}"/>
              </a:ext>
            </a:extLst>
          </p:cNvPr>
          <p:cNvSpPr/>
          <p:nvPr/>
        </p:nvSpPr>
        <p:spPr>
          <a:xfrm>
            <a:off x="17767300" y="5159328"/>
            <a:ext cx="3425204" cy="1698672"/>
          </a:xfrm>
          <a:prstGeom prst="roundRect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70A5D77-8477-47FE-A265-2F883C850290}"/>
              </a:ext>
            </a:extLst>
          </p:cNvPr>
          <p:cNvSpPr/>
          <p:nvPr/>
        </p:nvSpPr>
        <p:spPr>
          <a:xfrm>
            <a:off x="17691100" y="7933876"/>
            <a:ext cx="3425204" cy="1514923"/>
          </a:xfrm>
          <a:prstGeom prst="roundRect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1550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14" grpId="0" animBg="1"/>
      <p:bldP spid="14" grpId="1" animBg="1"/>
      <p:bldP spid="15" grpId="0" animBg="1"/>
      <p:bldP spid="15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5">
            <a:extLst>
              <a:ext uri="{FF2B5EF4-FFF2-40B4-BE49-F238E27FC236}">
                <a16:creationId xmlns:a16="http://schemas.microsoft.com/office/drawing/2014/main" id="{04ADF442-BEB5-4DA4-BEEE-C83DAC0E0246}"/>
              </a:ext>
            </a:extLst>
          </p:cNvPr>
          <p:cNvSpPr/>
          <p:nvPr/>
        </p:nvSpPr>
        <p:spPr>
          <a:xfrm>
            <a:off x="8254362" y="6627931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기획자</a:t>
            </a:r>
            <a:endParaRPr lang="en-US" sz="4800" dirty="0">
              <a:solidFill>
                <a:schemeClr val="bg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5D29B07C-4C76-4131-ACF8-0C4ACE6F27C1}"/>
              </a:ext>
            </a:extLst>
          </p:cNvPr>
          <p:cNvSpPr/>
          <p:nvPr/>
        </p:nvSpPr>
        <p:spPr>
          <a:xfrm>
            <a:off x="8826820" y="6626041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 err="1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매니저</a:t>
            </a:r>
            <a:endParaRPr lang="en-US" sz="4800" dirty="0">
              <a:solidFill>
                <a:schemeClr val="bg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ECF0B666-0C68-4F32-975D-D56161BE4B8B}"/>
              </a:ext>
            </a:extLst>
          </p:cNvPr>
          <p:cNvSpPr/>
          <p:nvPr/>
        </p:nvSpPr>
        <p:spPr>
          <a:xfrm>
            <a:off x="8518206" y="6665888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편집자</a:t>
            </a:r>
            <a:r>
              <a:rPr lang="en-US" altLang="ko-KR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, </a:t>
            </a:r>
            <a:r>
              <a:rPr lang="ko-KR" altLang="en-US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마케터</a:t>
            </a:r>
            <a:endParaRPr lang="en-US" sz="4800" dirty="0">
              <a:solidFill>
                <a:schemeClr val="bg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3839" y="-1568450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28" name="Picture 4">
            <a:extLst>
              <a:ext uri="{FF2B5EF4-FFF2-40B4-BE49-F238E27FC236}">
                <a16:creationId xmlns:a16="http://schemas.microsoft.com/office/drawing/2014/main" id="{669A76E8-654B-4F23-9659-3AC3559EF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E9BE392-8DDC-4CB6-9C11-222DA958ED5E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32 -  </a:t>
            </a:r>
            <a:endParaRPr lang="ko-KR" alt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75E544-1481-4784-A9EB-4715AE81AAD1}"/>
              </a:ext>
            </a:extLst>
          </p:cNvPr>
          <p:cNvSpPr txBox="1"/>
          <p:nvPr/>
        </p:nvSpPr>
        <p:spPr>
          <a:xfrm>
            <a:off x="2778080" y="5350012"/>
            <a:ext cx="18827839" cy="20433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2000"/>
              </a:spcAft>
            </a:pPr>
            <a:r>
              <a:rPr lang="en-US" altLang="ko-KR" sz="9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4. </a:t>
            </a:r>
            <a:r>
              <a:rPr lang="ko-KR" altLang="en-US" sz="9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아키텍처 구성도</a:t>
            </a:r>
            <a:endParaRPr lang="en-US" altLang="ko-KR" sz="23900" b="1" dirty="0">
              <a:solidFill>
                <a:schemeClr val="tx1">
                  <a:lumMod val="75000"/>
                  <a:lumOff val="25000"/>
                </a:schemeClr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74302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B5D209AB-3FC0-4C69-82B4-6A794F3B0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13" name="TextBox 17">
            <a:extLst>
              <a:ext uri="{FF2B5EF4-FFF2-40B4-BE49-F238E27FC236}">
                <a16:creationId xmlns:a16="http://schemas.microsoft.com/office/drawing/2014/main" id="{F9E4EBDF-9847-4BF5-9BB4-43F0F61FA9F5}"/>
              </a:ext>
            </a:extLst>
          </p:cNvPr>
          <p:cNvSpPr txBox="1"/>
          <p:nvPr/>
        </p:nvSpPr>
        <p:spPr>
          <a:xfrm>
            <a:off x="1739899" y="1217164"/>
            <a:ext cx="186010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아키텍처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구성도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21" name="Picture 20" descr="arch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99713" y="1765897"/>
            <a:ext cx="25783426" cy="119000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B07E98-AABD-4B9B-A2DF-5998A2E18E51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33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-  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802303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5">
            <a:extLst>
              <a:ext uri="{FF2B5EF4-FFF2-40B4-BE49-F238E27FC236}">
                <a16:creationId xmlns:a16="http://schemas.microsoft.com/office/drawing/2014/main" id="{04ADF442-BEB5-4DA4-BEEE-C83DAC0E0246}"/>
              </a:ext>
            </a:extLst>
          </p:cNvPr>
          <p:cNvSpPr/>
          <p:nvPr/>
        </p:nvSpPr>
        <p:spPr>
          <a:xfrm>
            <a:off x="8254362" y="6627931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기획자</a:t>
            </a:r>
            <a:endParaRPr lang="en-US" sz="4800" dirty="0">
              <a:solidFill>
                <a:schemeClr val="bg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5D29B07C-4C76-4131-ACF8-0C4ACE6F27C1}"/>
              </a:ext>
            </a:extLst>
          </p:cNvPr>
          <p:cNvSpPr/>
          <p:nvPr/>
        </p:nvSpPr>
        <p:spPr>
          <a:xfrm>
            <a:off x="8826820" y="6626041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 err="1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매니저</a:t>
            </a:r>
            <a:endParaRPr lang="en-US" sz="4800" dirty="0">
              <a:solidFill>
                <a:schemeClr val="bg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ECF0B666-0C68-4F32-975D-D56161BE4B8B}"/>
              </a:ext>
            </a:extLst>
          </p:cNvPr>
          <p:cNvSpPr/>
          <p:nvPr/>
        </p:nvSpPr>
        <p:spPr>
          <a:xfrm>
            <a:off x="8518206" y="6665888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편집자</a:t>
            </a:r>
            <a:r>
              <a:rPr lang="en-US" altLang="ko-KR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, </a:t>
            </a:r>
            <a:r>
              <a:rPr lang="ko-KR" altLang="en-US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마케터</a:t>
            </a:r>
            <a:endParaRPr lang="en-US" sz="4800" dirty="0">
              <a:solidFill>
                <a:schemeClr val="bg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3839" y="-1568450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28" name="Picture 4">
            <a:extLst>
              <a:ext uri="{FF2B5EF4-FFF2-40B4-BE49-F238E27FC236}">
                <a16:creationId xmlns:a16="http://schemas.microsoft.com/office/drawing/2014/main" id="{669A76E8-654B-4F23-9659-3AC3559EF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E9BE392-8DDC-4CB6-9C11-222DA958ED5E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34 -  </a:t>
            </a:r>
            <a:endParaRPr lang="ko-KR" alt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75E544-1481-4784-A9EB-4715AE81AAD1}"/>
              </a:ext>
            </a:extLst>
          </p:cNvPr>
          <p:cNvSpPr txBox="1"/>
          <p:nvPr/>
        </p:nvSpPr>
        <p:spPr>
          <a:xfrm>
            <a:off x="2778080" y="5350012"/>
            <a:ext cx="18827839" cy="20433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2000"/>
              </a:spcAft>
            </a:pPr>
            <a:r>
              <a:rPr lang="en-US" altLang="ko-KR" sz="9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5. </a:t>
            </a:r>
            <a:r>
              <a:rPr lang="ko-KR" altLang="en-US" sz="9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차별성</a:t>
            </a:r>
            <a:endParaRPr lang="en-US" altLang="ko-KR" sz="23900" b="1" dirty="0">
              <a:solidFill>
                <a:schemeClr val="tx1">
                  <a:lumMod val="75000"/>
                  <a:lumOff val="25000"/>
                </a:schemeClr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4962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38" name="Picture 4">
            <a:extLst>
              <a:ext uri="{FF2B5EF4-FFF2-40B4-BE49-F238E27FC236}">
                <a16:creationId xmlns:a16="http://schemas.microsoft.com/office/drawing/2014/main" id="{3DDEBFF9-B5D2-4ED4-8311-279F0A9519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39" name="TextBox 17">
            <a:extLst>
              <a:ext uri="{FF2B5EF4-FFF2-40B4-BE49-F238E27FC236}">
                <a16:creationId xmlns:a16="http://schemas.microsoft.com/office/drawing/2014/main" id="{2AD1BA91-8A9E-4EA8-96E8-B527887D15E6}"/>
              </a:ext>
            </a:extLst>
          </p:cNvPr>
          <p:cNvSpPr txBox="1"/>
          <p:nvPr/>
        </p:nvSpPr>
        <p:spPr>
          <a:xfrm>
            <a:off x="1739899" y="1217164"/>
            <a:ext cx="186010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차별성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- 1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6CDB252-27F8-4E2A-9EA4-E880DB4E3C01}"/>
              </a:ext>
            </a:extLst>
          </p:cNvPr>
          <p:cNvSpPr/>
          <p:nvPr/>
        </p:nvSpPr>
        <p:spPr>
          <a:xfrm>
            <a:off x="4031923" y="4577232"/>
            <a:ext cx="16770677" cy="6689052"/>
          </a:xfrm>
          <a:prstGeom prst="roundRect">
            <a:avLst>
              <a:gd name="adj" fmla="val 6046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4400" dirty="0">
              <a:solidFill>
                <a:schemeClr val="tx1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A7C77DC-3B9B-4CF9-9FB9-9DF1E5C832BA}"/>
              </a:ext>
            </a:extLst>
          </p:cNvPr>
          <p:cNvSpPr/>
          <p:nvPr/>
        </p:nvSpPr>
        <p:spPr>
          <a:xfrm>
            <a:off x="8851820" y="4062005"/>
            <a:ext cx="6680359" cy="106845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플랫폼 </a:t>
            </a:r>
            <a:r>
              <a:rPr lang="en-US" altLang="ko-KR" sz="4400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‘</a:t>
            </a:r>
            <a:r>
              <a:rPr lang="ko-KR" altLang="en-US" sz="4400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안</a:t>
            </a:r>
            <a:r>
              <a:rPr lang="en-US" altLang="ko-KR" sz="4400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’</a:t>
            </a:r>
            <a:r>
              <a:rPr lang="ko-KR" altLang="en-US" sz="4400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에 갇힌 </a:t>
            </a:r>
            <a:r>
              <a:rPr lang="en-US" altLang="ko-KR" sz="4400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AI</a:t>
            </a:r>
            <a:endParaRPr lang="ko-KR" altLang="en-US" sz="4400" dirty="0">
              <a:solidFill>
                <a:schemeClr val="tx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0A95C1-E0BB-4B7E-9D16-D32B1727AC1F}"/>
              </a:ext>
            </a:extLst>
          </p:cNvPr>
          <p:cNvSpPr txBox="1"/>
          <p:nvPr/>
        </p:nvSpPr>
        <p:spPr>
          <a:xfrm>
            <a:off x="-7741812" y="-5290152"/>
            <a:ext cx="15763874" cy="913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5333" b="0" i="0" u="none" strike="noStrike" kern="1200" cap="none" spc="-200" normalizeH="0" baseline="0" noProof="0" dirty="0">
                <a:ln>
                  <a:noFill/>
                </a:ln>
                <a:solidFill>
                  <a:srgbClr val="001D67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①②③④⑤⑥⑦⑧⑨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27AB47-11E3-4A2E-876E-FB94695D315C}"/>
              </a:ext>
            </a:extLst>
          </p:cNvPr>
          <p:cNvSpPr txBox="1"/>
          <p:nvPr/>
        </p:nvSpPr>
        <p:spPr>
          <a:xfrm>
            <a:off x="10058400" y="6162535"/>
            <a:ext cx="9820274" cy="3283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800" spc="-200" dirty="0">
                <a:latin typeface="Pretendard SemiBold" panose="020B0600000101010101" charset="-127"/>
                <a:ea typeface="Pretendard SemiBold" panose="020B0600000101010101" charset="-127"/>
                <a:cs typeface="Pretendard Bold"/>
              </a:rPr>
              <a:t>“ </a:t>
            </a:r>
            <a:r>
              <a:rPr lang="ko-KR" altLang="en-US" sz="4800" spc="-200" dirty="0">
                <a:latin typeface="Pretendard SemiBold" panose="020B0600000101010101" charset="-127"/>
                <a:ea typeface="Pretendard SemiBold" panose="020B0600000101010101" charset="-127"/>
                <a:cs typeface="Pretendard Bold"/>
              </a:rPr>
              <a:t>기존엔 </a:t>
            </a:r>
            <a:r>
              <a:rPr lang="ko-KR" altLang="en-US" sz="4800" spc="-200" dirty="0">
                <a:solidFill>
                  <a:srgbClr val="C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Bold"/>
              </a:rPr>
              <a:t>동시송출 통합 관리</a:t>
            </a:r>
            <a:r>
              <a:rPr lang="ko-KR" altLang="en-US" sz="4800" spc="-200" dirty="0">
                <a:latin typeface="Pretendard SemiBold" panose="020B0600000101010101" charset="-127"/>
                <a:ea typeface="Pretendard SemiBold" panose="020B0600000101010101" charset="-127"/>
                <a:cs typeface="Pretendard Bold"/>
              </a:rPr>
              <a:t>도 안되고</a:t>
            </a:r>
            <a:r>
              <a:rPr lang="en-US" altLang="ko-KR" sz="4800" spc="-200" dirty="0">
                <a:latin typeface="Pretendard SemiBold" panose="020B0600000101010101" charset="-127"/>
                <a:ea typeface="Pretendard SemiBold" panose="020B0600000101010101" charset="-127"/>
                <a:cs typeface="Pretendard Bold"/>
              </a:rPr>
              <a:t>, </a:t>
            </a:r>
          </a:p>
          <a:p>
            <a:pPr>
              <a:lnSpc>
                <a:spcPct val="150000"/>
              </a:lnSpc>
            </a:pPr>
            <a:r>
              <a:rPr kumimoji="0" lang="ko-KR" altLang="en-US" sz="4800" b="0" i="0" u="none" strike="noStrike" kern="1200" cap="none" spc="-2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retendard SemiBold" panose="020B0600000101010101" charset="-127"/>
                <a:ea typeface="Pretendard SemiBold" panose="020B0600000101010101" charset="-127"/>
                <a:cs typeface="Pretendard Bold"/>
              </a:rPr>
              <a:t>   플랫폼을 옮기면 다 리셋</a:t>
            </a:r>
            <a:r>
              <a:rPr kumimoji="0" lang="ko-KR" altLang="en-US" sz="4800" b="0" i="0" u="none" strike="noStrike" kern="1200" cap="none" spc="-200" normalizeH="0" baseline="0" noProof="0" dirty="0">
                <a:ln>
                  <a:noFill/>
                </a:ln>
                <a:effectLst/>
                <a:uLnTx/>
                <a:uFillTx/>
                <a:latin typeface="Pretendard SemiBold" panose="020B0600000101010101" charset="-127"/>
                <a:ea typeface="Pretendard SemiBold" panose="020B0600000101010101" charset="-127"/>
                <a:cs typeface="Pretendard Bold"/>
              </a:rPr>
              <a:t>이에요</a:t>
            </a:r>
            <a:r>
              <a:rPr kumimoji="0" lang="en-US" altLang="ko-KR" sz="4800" b="0" i="0" u="none" strike="noStrike" kern="1200" cap="none" spc="-200" normalizeH="0" baseline="0" noProof="0" dirty="0">
                <a:ln>
                  <a:noFill/>
                </a:ln>
                <a:effectLst/>
                <a:uLnTx/>
                <a:uFillTx/>
                <a:latin typeface="Pretendard SemiBold" panose="020B0600000101010101" charset="-127"/>
                <a:ea typeface="Pretendard SemiBold" panose="020B0600000101010101" charset="-127"/>
                <a:cs typeface="Pretendard Bold"/>
              </a:rPr>
              <a:t>. </a:t>
            </a:r>
          </a:p>
          <a:p>
            <a:pPr>
              <a:lnSpc>
                <a:spcPct val="150000"/>
              </a:lnSpc>
            </a:pPr>
            <a:r>
              <a:rPr kumimoji="0" lang="ko-KR" altLang="en-US" sz="4800" b="0" i="0" u="none" strike="noStrike" kern="1200" cap="none" spc="-200" normalizeH="0" baseline="0" noProof="0" dirty="0">
                <a:ln>
                  <a:noFill/>
                </a:ln>
                <a:effectLst/>
                <a:uLnTx/>
                <a:uFillTx/>
                <a:latin typeface="Pretendard SemiBold" panose="020B0600000101010101" charset="-127"/>
                <a:ea typeface="Pretendard SemiBold" panose="020B0600000101010101" charset="-127"/>
                <a:cs typeface="Pretendard Bold"/>
              </a:rPr>
              <a:t>   </a:t>
            </a:r>
            <a:r>
              <a:rPr kumimoji="0" lang="ko-KR" altLang="en-US" sz="4800" b="0" i="0" u="none" strike="noStrike" kern="1200" cap="none" spc="-200" normalizeH="0" baseline="0" noProof="0" dirty="0" err="1">
                <a:ln>
                  <a:noFill/>
                </a:ln>
                <a:effectLst/>
                <a:uLnTx/>
                <a:uFillTx/>
                <a:latin typeface="Pretendard SemiBold" panose="020B0600000101010101" charset="-127"/>
                <a:ea typeface="Pretendard SemiBold" panose="020B0600000101010101" charset="-127"/>
                <a:cs typeface="Pretendard Bold"/>
              </a:rPr>
              <a:t>쌓아둔</a:t>
            </a:r>
            <a:r>
              <a:rPr kumimoji="0" lang="ko-KR" altLang="en-US" sz="4800" b="0" i="0" u="none" strike="noStrike" kern="1200" cap="none" spc="-200" normalizeH="0" baseline="0" noProof="0" dirty="0">
                <a:ln>
                  <a:noFill/>
                </a:ln>
                <a:effectLst/>
                <a:uLnTx/>
                <a:uFillTx/>
                <a:latin typeface="Pretendard SemiBold" panose="020B0600000101010101" charset="-127"/>
                <a:ea typeface="Pretendard SemiBold" panose="020B0600000101010101" charset="-127"/>
                <a:cs typeface="Pretendard Bold"/>
              </a:rPr>
              <a:t> 데이터도</a:t>
            </a:r>
            <a:r>
              <a:rPr kumimoji="0" lang="en-US" altLang="ko-KR" sz="4800" b="0" i="0" u="none" strike="noStrike" kern="1200" cap="none" spc="-200" normalizeH="0" baseline="0" noProof="0" dirty="0">
                <a:ln>
                  <a:noFill/>
                </a:ln>
                <a:effectLst/>
                <a:uLnTx/>
                <a:uFillTx/>
                <a:latin typeface="Pretendard SemiBold" panose="020B0600000101010101" charset="-127"/>
                <a:ea typeface="Pretendard SemiBold" panose="020B0600000101010101" charset="-127"/>
                <a:cs typeface="Pretendard Bold"/>
              </a:rPr>
              <a:t>, </a:t>
            </a:r>
            <a:r>
              <a:rPr kumimoji="0" lang="ko-KR" altLang="en-US" sz="4800" b="0" i="0" u="none" strike="noStrike" kern="1200" cap="none" spc="-200" normalizeH="0" baseline="0" noProof="0" dirty="0">
                <a:ln>
                  <a:noFill/>
                </a:ln>
                <a:effectLst/>
                <a:uLnTx/>
                <a:uFillTx/>
                <a:latin typeface="Pretendard SemiBold" panose="020B0600000101010101" charset="-127"/>
                <a:ea typeface="Pretendard SemiBold" panose="020B0600000101010101" charset="-127"/>
                <a:cs typeface="Pretendard Bold"/>
              </a:rPr>
              <a:t>손에 익은 </a:t>
            </a:r>
            <a:r>
              <a:rPr kumimoji="0" lang="en-US" altLang="ko-KR" sz="4800" b="0" i="0" u="none" strike="noStrike" kern="1200" cap="none" spc="-200" normalizeH="0" baseline="0" noProof="0" dirty="0">
                <a:ln>
                  <a:noFill/>
                </a:ln>
                <a:effectLst/>
                <a:uLnTx/>
                <a:uFillTx/>
                <a:latin typeface="Pretendard SemiBold" panose="020B0600000101010101" charset="-127"/>
                <a:ea typeface="Pretendard SemiBold" panose="020B0600000101010101" charset="-127"/>
                <a:cs typeface="Pretendard Bold"/>
              </a:rPr>
              <a:t>AI</a:t>
            </a:r>
            <a:r>
              <a:rPr kumimoji="0" lang="ko-KR" altLang="en-US" sz="4800" b="0" i="0" u="none" strike="noStrike" kern="1200" cap="none" spc="-200" normalizeH="0" baseline="0" noProof="0" dirty="0">
                <a:ln>
                  <a:noFill/>
                </a:ln>
                <a:effectLst/>
                <a:uLnTx/>
                <a:uFillTx/>
                <a:latin typeface="Pretendard SemiBold" panose="020B0600000101010101" charset="-127"/>
                <a:ea typeface="Pretendard SemiBold" panose="020B0600000101010101" charset="-127"/>
                <a:cs typeface="Pretendard Bold"/>
              </a:rPr>
              <a:t>도 전부요 </a:t>
            </a:r>
            <a:r>
              <a:rPr kumimoji="0" lang="en-US" altLang="ko-KR" sz="4800" b="0" i="0" u="none" strike="noStrike" kern="1200" cap="none" spc="-200" normalizeH="0" baseline="0" noProof="0" dirty="0">
                <a:ln>
                  <a:noFill/>
                </a:ln>
                <a:effectLst/>
                <a:uLnTx/>
                <a:uFillTx/>
                <a:latin typeface="Pretendard SemiBold" panose="020B0600000101010101" charset="-127"/>
                <a:ea typeface="Pretendard SemiBold" panose="020B0600000101010101" charset="-127"/>
                <a:cs typeface="Pretendard Bold"/>
              </a:rPr>
              <a:t>“</a:t>
            </a:r>
            <a:endParaRPr lang="ko-KR" altLang="en-US" sz="1600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0BC9E2B6-22F2-473C-8921-841E6CC9EC1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923" y="5271884"/>
            <a:ext cx="5994400" cy="5994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718FCE4-069F-4B06-A73A-55367608B3FA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35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-  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975309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42" name="Picture 4">
            <a:extLst>
              <a:ext uri="{FF2B5EF4-FFF2-40B4-BE49-F238E27FC236}">
                <a16:creationId xmlns:a16="http://schemas.microsoft.com/office/drawing/2014/main" id="{12C5A62F-0BAF-4843-897A-F0FA5B54CE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43" name="TextBox 17">
            <a:extLst>
              <a:ext uri="{FF2B5EF4-FFF2-40B4-BE49-F238E27FC236}">
                <a16:creationId xmlns:a16="http://schemas.microsoft.com/office/drawing/2014/main" id="{3735640F-D2F9-4EF4-B044-2107439A9581}"/>
              </a:ext>
            </a:extLst>
          </p:cNvPr>
          <p:cNvSpPr txBox="1"/>
          <p:nvPr/>
        </p:nvSpPr>
        <p:spPr>
          <a:xfrm>
            <a:off x="1739899" y="1217164"/>
            <a:ext cx="186010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차별성</a:t>
            </a:r>
            <a:r>
              <a:rPr lang="en-US" altLang="ko-KR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- 1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482A8A4B-9322-4FCF-994F-CE3EFD612498}"/>
              </a:ext>
            </a:extLst>
          </p:cNvPr>
          <p:cNvGrpSpPr/>
          <p:nvPr/>
        </p:nvGrpSpPr>
        <p:grpSpPr>
          <a:xfrm>
            <a:off x="12815075" y="5839586"/>
            <a:ext cx="9816325" cy="1528345"/>
            <a:chOff x="-5644586" y="1728787"/>
            <a:chExt cx="6117762" cy="952500"/>
          </a:xfrm>
        </p:grpSpPr>
        <p:pic>
          <p:nvPicPr>
            <p:cNvPr id="25" name="Picture 2">
              <a:extLst>
                <a:ext uri="{FF2B5EF4-FFF2-40B4-BE49-F238E27FC236}">
                  <a16:creationId xmlns:a16="http://schemas.microsoft.com/office/drawing/2014/main" id="{8DD56C01-3A04-48FC-8497-68E977C748B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417" b="22888"/>
            <a:stretch/>
          </p:blipFill>
          <p:spPr bwMode="auto">
            <a:xfrm>
              <a:off x="-4258622" y="1728787"/>
              <a:ext cx="3279348" cy="952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4">
              <a:extLst>
                <a:ext uri="{FF2B5EF4-FFF2-40B4-BE49-F238E27FC236}">
                  <a16:creationId xmlns:a16="http://schemas.microsoft.com/office/drawing/2014/main" id="{1A42BEBE-0CEB-4B03-8328-D8614F052A7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82" b="25427"/>
            <a:stretch/>
          </p:blipFill>
          <p:spPr bwMode="auto">
            <a:xfrm>
              <a:off x="-5644586" y="1792736"/>
              <a:ext cx="2181963" cy="6980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8">
              <a:extLst>
                <a:ext uri="{FF2B5EF4-FFF2-40B4-BE49-F238E27FC236}">
                  <a16:creationId xmlns:a16="http://schemas.microsoft.com/office/drawing/2014/main" id="{2B7F2F72-16E5-4693-A785-FC5C2A5F990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469" b="28843"/>
            <a:stretch/>
          </p:blipFill>
          <p:spPr bwMode="auto">
            <a:xfrm>
              <a:off x="-1838514" y="1812385"/>
              <a:ext cx="2311690" cy="7403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8" name="그림 27">
            <a:extLst>
              <a:ext uri="{FF2B5EF4-FFF2-40B4-BE49-F238E27FC236}">
                <a16:creationId xmlns:a16="http://schemas.microsoft.com/office/drawing/2014/main" id="{8F612A6F-A66F-495B-9B27-CFF23A05849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1671" b="33623"/>
          <a:stretch>
            <a:fillRect/>
          </a:stretch>
        </p:blipFill>
        <p:spPr>
          <a:xfrm>
            <a:off x="15402910" y="9684072"/>
            <a:ext cx="4805512" cy="1667844"/>
          </a:xfrm>
          <a:prstGeom prst="rect">
            <a:avLst/>
          </a:prstGeom>
        </p:spPr>
      </p:pic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C9E5BACE-E31F-4301-83A9-119AF22080E6}"/>
              </a:ext>
            </a:extLst>
          </p:cNvPr>
          <p:cNvSpPr/>
          <p:nvPr/>
        </p:nvSpPr>
        <p:spPr>
          <a:xfrm rot="10800000">
            <a:off x="13500100" y="7549801"/>
            <a:ext cx="8763000" cy="1746074"/>
          </a:xfrm>
          <a:prstGeom prst="triangle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182FD"/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0A95C1-E0BB-4B7E-9D16-D32B1727AC1F}"/>
              </a:ext>
            </a:extLst>
          </p:cNvPr>
          <p:cNvSpPr txBox="1"/>
          <p:nvPr/>
        </p:nvSpPr>
        <p:spPr>
          <a:xfrm>
            <a:off x="-7741812" y="-5290152"/>
            <a:ext cx="15763874" cy="913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5333" b="0" i="0" u="none" strike="noStrike" kern="1200" cap="none" spc="-200" normalizeH="0" baseline="0" noProof="0" dirty="0">
                <a:ln>
                  <a:noFill/>
                </a:ln>
                <a:solidFill>
                  <a:srgbClr val="001D67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①②③④⑤⑥⑦⑧⑨</a:t>
            </a:r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C535994-3D08-46DD-A57B-537EA021E39D}"/>
              </a:ext>
            </a:extLst>
          </p:cNvPr>
          <p:cNvSpPr/>
          <p:nvPr/>
        </p:nvSpPr>
        <p:spPr>
          <a:xfrm>
            <a:off x="14504095" y="4191000"/>
            <a:ext cx="6680359" cy="1068454"/>
          </a:xfrm>
          <a:prstGeom prst="roundRect">
            <a:avLst>
              <a:gd name="adj" fmla="val 50000"/>
            </a:avLst>
          </a:prstGeom>
          <a:solidFill>
            <a:srgbClr val="001D67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</a:rPr>
              <a:t>플랫폼 </a:t>
            </a:r>
            <a:r>
              <a:rPr lang="en-US" altLang="ko-KR" sz="4400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</a:rPr>
              <a:t>‘</a:t>
            </a:r>
            <a:r>
              <a:rPr lang="ko-KR" altLang="en-US" sz="4400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</a:rPr>
              <a:t>위</a:t>
            </a:r>
            <a:r>
              <a:rPr lang="en-US" altLang="ko-KR" sz="4400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</a:rPr>
              <a:t>’</a:t>
            </a:r>
            <a:r>
              <a:rPr lang="ko-KR" altLang="en-US" sz="4400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</a:rPr>
              <a:t>의 매니저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F0557E89-B756-4F0D-8AE2-9A77021AAA7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01" y="6248620"/>
            <a:ext cx="7613141" cy="7613141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D4CB2F99-6C02-4E34-8642-6393917EA23F}"/>
              </a:ext>
            </a:extLst>
          </p:cNvPr>
          <p:cNvSpPr txBox="1"/>
          <p:nvPr/>
        </p:nvSpPr>
        <p:spPr>
          <a:xfrm>
            <a:off x="5884880" y="5836883"/>
            <a:ext cx="6535720" cy="2436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5400" spc="-200" dirty="0">
                <a:latin typeface="Pretendard Bold" panose="020B0600000101010101" charset="-127"/>
                <a:ea typeface="Pretendard Bold" panose="020B0600000101010101" charset="-127"/>
              </a:rPr>
              <a:t>“ LAIVE</a:t>
            </a:r>
            <a:r>
              <a:rPr lang="ko-KR" altLang="en-US" sz="5400" spc="-200" dirty="0">
                <a:latin typeface="Pretendard Bold" panose="020B0600000101010101" charset="-127"/>
                <a:ea typeface="Pretendard Bold" panose="020B0600000101010101" charset="-127"/>
              </a:rPr>
              <a:t>는 </a:t>
            </a:r>
            <a:endParaRPr lang="en-US" altLang="ko-KR" sz="5400" spc="-200" dirty="0">
              <a:latin typeface="Pretendard Bold" panose="020B0600000101010101" charset="-127"/>
              <a:ea typeface="Pretendard Bold" panose="020B0600000101010101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5400" spc="-200" dirty="0">
                <a:latin typeface="Pretendard Bold" panose="020B0600000101010101" charset="-127"/>
                <a:ea typeface="Pretendard Bold" panose="020B0600000101010101" charset="-127"/>
              </a:rPr>
              <a:t>   </a:t>
            </a:r>
            <a:r>
              <a:rPr lang="ko-KR" altLang="en-US" sz="5400" spc="-200" dirty="0">
                <a:latin typeface="Pretendard Bold" panose="020B0600000101010101" charset="-127"/>
                <a:ea typeface="Pretendard Bold" panose="020B0600000101010101" charset="-127"/>
              </a:rPr>
              <a:t>한번에 관리가 되네</a:t>
            </a:r>
            <a:r>
              <a:rPr lang="en-US" altLang="ko-KR" sz="5400" spc="-200" dirty="0">
                <a:latin typeface="Pretendard Bold" panose="020B0600000101010101" charset="-127"/>
                <a:ea typeface="Pretendard Bold" panose="020B0600000101010101" charset="-127"/>
              </a:rPr>
              <a:t>! “</a:t>
            </a:r>
            <a:endParaRPr lang="ko-KR" altLang="en-US" dirty="0"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A121DB-6C30-4CC7-9DB3-ECE83C879646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36 -  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909962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23" name="Picture 4">
            <a:extLst>
              <a:ext uri="{FF2B5EF4-FFF2-40B4-BE49-F238E27FC236}">
                <a16:creationId xmlns:a16="http://schemas.microsoft.com/office/drawing/2014/main" id="{00CE29B8-17D8-45BF-9E3F-B6D9FF3463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25" name="TextBox 17">
            <a:extLst>
              <a:ext uri="{FF2B5EF4-FFF2-40B4-BE49-F238E27FC236}">
                <a16:creationId xmlns:a16="http://schemas.microsoft.com/office/drawing/2014/main" id="{4913235D-5CFE-4F7C-8287-3ACC6686FDE5}"/>
              </a:ext>
            </a:extLst>
          </p:cNvPr>
          <p:cNvSpPr txBox="1"/>
          <p:nvPr/>
        </p:nvSpPr>
        <p:spPr>
          <a:xfrm>
            <a:off x="1739899" y="1217164"/>
            <a:ext cx="211201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차별성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- 2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6DCF7846-0050-4969-B05D-F1F4A2D7B92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821"/>
          <a:stretch/>
        </p:blipFill>
        <p:spPr>
          <a:xfrm>
            <a:off x="-3657600" y="2802628"/>
            <a:ext cx="29750565" cy="900425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1BC32AF-751F-48EE-9763-99F561B3D3F6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37 -  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802303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23" name="Picture 4">
            <a:extLst>
              <a:ext uri="{FF2B5EF4-FFF2-40B4-BE49-F238E27FC236}">
                <a16:creationId xmlns:a16="http://schemas.microsoft.com/office/drawing/2014/main" id="{00CE29B8-17D8-45BF-9E3F-B6D9FF3463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25" name="TextBox 17">
            <a:extLst>
              <a:ext uri="{FF2B5EF4-FFF2-40B4-BE49-F238E27FC236}">
                <a16:creationId xmlns:a16="http://schemas.microsoft.com/office/drawing/2014/main" id="{4913235D-5CFE-4F7C-8287-3ACC6686FDE5}"/>
              </a:ext>
            </a:extLst>
          </p:cNvPr>
          <p:cNvSpPr txBox="1"/>
          <p:nvPr/>
        </p:nvSpPr>
        <p:spPr>
          <a:xfrm>
            <a:off x="1739899" y="1217164"/>
            <a:ext cx="211201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차별성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- 3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00A939-4F01-4C2D-9990-2E61BB5510F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78" t="11418" r="9092" b="22983"/>
          <a:stretch/>
        </p:blipFill>
        <p:spPr>
          <a:xfrm>
            <a:off x="-256999" y="2802628"/>
            <a:ext cx="24897997" cy="91836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7F9A84-15D1-4515-877C-687840AD97B5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38 -  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195562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5">
            <a:extLst>
              <a:ext uri="{FF2B5EF4-FFF2-40B4-BE49-F238E27FC236}">
                <a16:creationId xmlns:a16="http://schemas.microsoft.com/office/drawing/2014/main" id="{04ADF442-BEB5-4DA4-BEEE-C83DAC0E0246}"/>
              </a:ext>
            </a:extLst>
          </p:cNvPr>
          <p:cNvSpPr/>
          <p:nvPr/>
        </p:nvSpPr>
        <p:spPr>
          <a:xfrm>
            <a:off x="8254362" y="6627931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기획자</a:t>
            </a:r>
            <a:endParaRPr lang="en-US" sz="4800" dirty="0">
              <a:solidFill>
                <a:schemeClr val="bg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5D29B07C-4C76-4131-ACF8-0C4ACE6F27C1}"/>
              </a:ext>
            </a:extLst>
          </p:cNvPr>
          <p:cNvSpPr/>
          <p:nvPr/>
        </p:nvSpPr>
        <p:spPr>
          <a:xfrm>
            <a:off x="8826820" y="6626041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 err="1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매니저</a:t>
            </a:r>
            <a:endParaRPr lang="en-US" sz="4800" dirty="0">
              <a:solidFill>
                <a:schemeClr val="bg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ECF0B666-0C68-4F32-975D-D56161BE4B8B}"/>
              </a:ext>
            </a:extLst>
          </p:cNvPr>
          <p:cNvSpPr/>
          <p:nvPr/>
        </p:nvSpPr>
        <p:spPr>
          <a:xfrm>
            <a:off x="8518206" y="6665888"/>
            <a:ext cx="6730360" cy="19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편집자</a:t>
            </a:r>
            <a:r>
              <a:rPr lang="en-US" altLang="ko-KR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, </a:t>
            </a:r>
            <a:r>
              <a:rPr lang="ko-KR" altLang="en-US" sz="48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  <a:cs typeface="Pretendard" pitchFamily="34" charset="-120"/>
              </a:rPr>
              <a:t>마케터</a:t>
            </a:r>
            <a:endParaRPr lang="en-US" sz="4800" dirty="0">
              <a:solidFill>
                <a:schemeClr val="bg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3839" y="-1568450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28" name="Picture 4">
            <a:extLst>
              <a:ext uri="{FF2B5EF4-FFF2-40B4-BE49-F238E27FC236}">
                <a16:creationId xmlns:a16="http://schemas.microsoft.com/office/drawing/2014/main" id="{669A76E8-654B-4F23-9659-3AC3559EF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E9BE392-8DDC-4CB6-9C11-222DA958ED5E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39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-  </a:t>
            </a:r>
            <a:endParaRPr lang="ko-KR" alt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75E544-1481-4784-A9EB-4715AE81AAD1}"/>
              </a:ext>
            </a:extLst>
          </p:cNvPr>
          <p:cNvSpPr txBox="1"/>
          <p:nvPr/>
        </p:nvSpPr>
        <p:spPr>
          <a:xfrm>
            <a:off x="2778080" y="5350012"/>
            <a:ext cx="18827839" cy="20433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2000"/>
              </a:spcAft>
            </a:pPr>
            <a:r>
              <a:rPr lang="en-US" altLang="ko-KR" sz="9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6. </a:t>
            </a:r>
            <a:r>
              <a:rPr lang="ko-KR" altLang="en-US" sz="9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기대효과</a:t>
            </a:r>
            <a:r>
              <a:rPr lang="en-US" altLang="ko-KR" sz="9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, </a:t>
            </a:r>
            <a:r>
              <a:rPr lang="ko-KR" altLang="en-US" sz="9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고도화 방안</a:t>
            </a:r>
            <a:r>
              <a:rPr lang="en-US" altLang="ko-KR" sz="9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endParaRPr lang="en-US" altLang="ko-KR" sz="23900" b="1" dirty="0">
              <a:solidFill>
                <a:schemeClr val="tx1">
                  <a:lumMod val="75000"/>
                  <a:lumOff val="25000"/>
                </a:schemeClr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62528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F31411A5-F40F-4826-B32E-26396A8EEC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23" name="TextBox 17">
            <a:extLst>
              <a:ext uri="{FF2B5EF4-FFF2-40B4-BE49-F238E27FC236}">
                <a16:creationId xmlns:a16="http://schemas.microsoft.com/office/drawing/2014/main" id="{DC884018-CD41-4852-9818-77EC7560886B}"/>
              </a:ext>
            </a:extLst>
          </p:cNvPr>
          <p:cNvSpPr txBox="1"/>
          <p:nvPr/>
        </p:nvSpPr>
        <p:spPr>
          <a:xfrm>
            <a:off x="1739899" y="1217164"/>
            <a:ext cx="186010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기대효과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–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LAIVE가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만드는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ko-KR" altLang="en-US" sz="6600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선순환 구조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D3A0CA6-7EF5-9123-DC2B-3D1A59E16522}"/>
              </a:ext>
            </a:extLst>
          </p:cNvPr>
          <p:cNvGrpSpPr/>
          <p:nvPr/>
        </p:nvGrpSpPr>
        <p:grpSpPr>
          <a:xfrm>
            <a:off x="-147999" y="1295400"/>
            <a:ext cx="24679998" cy="14396666"/>
            <a:chOff x="2209535" y="2618292"/>
            <a:chExt cx="19278865" cy="11246005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5373EB2E-5370-B542-886D-4FE1192FC44A}"/>
                </a:ext>
              </a:extLst>
            </p:cNvPr>
            <p:cNvGrpSpPr/>
            <p:nvPr/>
          </p:nvGrpSpPr>
          <p:grpSpPr>
            <a:xfrm>
              <a:off x="3793074" y="3505200"/>
              <a:ext cx="16247526" cy="8460130"/>
              <a:chOff x="3793074" y="3505200"/>
              <a:chExt cx="16247526" cy="8460130"/>
            </a:xfrm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C1A49BED-A1B4-7F6D-0715-9FB4FDF19F0E}"/>
                  </a:ext>
                </a:extLst>
              </p:cNvPr>
              <p:cNvSpPr/>
              <p:nvPr/>
            </p:nvSpPr>
            <p:spPr>
              <a:xfrm>
                <a:off x="8077200" y="3505200"/>
                <a:ext cx="7833416" cy="4066328"/>
              </a:xfrm>
              <a:prstGeom prst="ellipse">
                <a:avLst/>
              </a:prstGeom>
              <a:solidFill>
                <a:srgbClr val="E1F1FF"/>
              </a:solidFill>
              <a:ln>
                <a:noFill/>
              </a:ln>
              <a:effectLst>
                <a:softEdge rad="9652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5A917B39-0D51-14FF-E5E0-EEB2508142A4}"/>
                  </a:ext>
                </a:extLst>
              </p:cNvPr>
              <p:cNvSpPr/>
              <p:nvPr/>
            </p:nvSpPr>
            <p:spPr>
              <a:xfrm>
                <a:off x="12403675" y="7973272"/>
                <a:ext cx="7636925" cy="3964330"/>
              </a:xfrm>
              <a:prstGeom prst="ellipse">
                <a:avLst/>
              </a:prstGeom>
              <a:solidFill>
                <a:srgbClr val="33DD47">
                  <a:alpha val="20000"/>
                </a:srgbClr>
              </a:solidFill>
              <a:ln>
                <a:noFill/>
              </a:ln>
              <a:effectLst>
                <a:softEdge rad="9652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28CD1F36-D72A-068E-46BD-8715E7786FCD}"/>
                  </a:ext>
                </a:extLst>
              </p:cNvPr>
              <p:cNvSpPr/>
              <p:nvPr/>
            </p:nvSpPr>
            <p:spPr>
              <a:xfrm>
                <a:off x="3793074" y="8001000"/>
                <a:ext cx="7636926" cy="3964330"/>
              </a:xfrm>
              <a:prstGeom prst="ellipse">
                <a:avLst/>
              </a:prstGeom>
              <a:solidFill>
                <a:srgbClr val="FFFF00">
                  <a:alpha val="20000"/>
                </a:srgbClr>
              </a:solidFill>
              <a:ln>
                <a:noFill/>
              </a:ln>
              <a:effectLst>
                <a:softEdge rad="9652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19251F30-E86D-04CE-CD62-B599559DA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9535" y="2618292"/>
              <a:ext cx="19278865" cy="11246005"/>
            </a:xfrm>
            <a:prstGeom prst="rect">
              <a:avLst/>
            </a:prstGeom>
          </p:spPr>
        </p:pic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C3E891F5-2361-3D7D-2283-F44E3DE1D551}"/>
                </a:ext>
              </a:extLst>
            </p:cNvPr>
            <p:cNvSpPr/>
            <p:nvPr/>
          </p:nvSpPr>
          <p:spPr>
            <a:xfrm>
              <a:off x="8883286" y="3608892"/>
              <a:ext cx="1816828" cy="1816828"/>
            </a:xfrm>
            <a:prstGeom prst="ellipse">
              <a:avLst/>
            </a:prstGeom>
            <a:blipFill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9FC7E14E-F80C-9C11-31B6-1388571C87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33489" y="6435183"/>
              <a:ext cx="3612222" cy="3612222"/>
            </a:xfrm>
            <a:prstGeom prst="rect">
              <a:avLst/>
            </a:prstGeom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158D7E5F-BF1C-4AB5-8A12-A404D4E9C916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40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-  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802303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7ED8FE47-F224-49F3-84CB-0F8EEE0CB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12" name="TextBox 17">
            <a:extLst>
              <a:ext uri="{FF2B5EF4-FFF2-40B4-BE49-F238E27FC236}">
                <a16:creationId xmlns:a16="http://schemas.microsoft.com/office/drawing/2014/main" id="{685ADB5B-E8DC-4C71-94F2-63B632BD9546}"/>
              </a:ext>
            </a:extLst>
          </p:cNvPr>
          <p:cNvSpPr txBox="1"/>
          <p:nvPr/>
        </p:nvSpPr>
        <p:spPr>
          <a:xfrm>
            <a:off x="1739899" y="1217164"/>
            <a:ext cx="186010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고도화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방안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–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매칭을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넘어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,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성장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플랫폼으로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212CFC6-7C84-4248-B9ED-5A02807BE6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929" y="2836301"/>
            <a:ext cx="17719342" cy="966253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C4A6EDB-959D-43A6-A5A0-5A4B440471A3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41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-  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802303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7ED8FE47-F224-49F3-84CB-0F8EEE0CB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12" name="TextBox 17">
            <a:extLst>
              <a:ext uri="{FF2B5EF4-FFF2-40B4-BE49-F238E27FC236}">
                <a16:creationId xmlns:a16="http://schemas.microsoft.com/office/drawing/2014/main" id="{685ADB5B-E8DC-4C71-94F2-63B632BD9546}"/>
              </a:ext>
            </a:extLst>
          </p:cNvPr>
          <p:cNvSpPr txBox="1"/>
          <p:nvPr/>
        </p:nvSpPr>
        <p:spPr>
          <a:xfrm>
            <a:off x="1739899" y="1217164"/>
            <a:ext cx="186010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고도화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방안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–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매칭을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넘어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,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성장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플랫폼으로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F93BBF4-19EA-40F1-8CC7-1327FBD2E7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850" y="3115306"/>
            <a:ext cx="17502833" cy="92290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2A71D0-2CF3-420B-80A6-0DAAB64D6123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42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-  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914233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7ED8FE47-F224-49F3-84CB-0F8EEE0CB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12" name="TextBox 17">
            <a:extLst>
              <a:ext uri="{FF2B5EF4-FFF2-40B4-BE49-F238E27FC236}">
                <a16:creationId xmlns:a16="http://schemas.microsoft.com/office/drawing/2014/main" id="{685ADB5B-E8DC-4C71-94F2-63B632BD9546}"/>
              </a:ext>
            </a:extLst>
          </p:cNvPr>
          <p:cNvSpPr txBox="1"/>
          <p:nvPr/>
        </p:nvSpPr>
        <p:spPr>
          <a:xfrm>
            <a:off x="1739899" y="1217164"/>
            <a:ext cx="186010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고도화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방안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–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매칭을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넘어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,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성장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플랫폼으로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29A688C-1071-488E-9162-F2E99F871B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0241" y="2838450"/>
            <a:ext cx="17734359" cy="9144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272131-34A9-4F0E-BF42-D64BE7482BEB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43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-  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849515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7ED8FE47-F224-49F3-84CB-0F8EEE0CB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12" name="TextBox 17">
            <a:extLst>
              <a:ext uri="{FF2B5EF4-FFF2-40B4-BE49-F238E27FC236}">
                <a16:creationId xmlns:a16="http://schemas.microsoft.com/office/drawing/2014/main" id="{685ADB5B-E8DC-4C71-94F2-63B632BD9546}"/>
              </a:ext>
            </a:extLst>
          </p:cNvPr>
          <p:cNvSpPr txBox="1"/>
          <p:nvPr/>
        </p:nvSpPr>
        <p:spPr>
          <a:xfrm>
            <a:off x="1739899" y="1217164"/>
            <a:ext cx="186010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고도화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방안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–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매칭을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넘어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,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성장</a:t>
            </a: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00" b="0" i="0" u="none" strike="noStrike" spc="-200" dirty="0" err="1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플랫폼으로</a:t>
            </a:r>
            <a:endParaRPr lang="en-US" altLang="ko-KR" sz="6600" b="0" i="0" u="none" strike="noStrike" spc="-200" dirty="0">
              <a:solidFill>
                <a:srgbClr val="001D67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A2E9B33-17B5-41AC-B4F2-F3FB3D5F67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3086100"/>
            <a:ext cx="18364200" cy="92192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FA8E3E-F1DB-48C4-B404-E86842DF6B2B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44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-  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822622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4">
            <a:extLst>
              <a:ext uri="{FF2B5EF4-FFF2-40B4-BE49-F238E27FC236}">
                <a16:creationId xmlns:a16="http://schemas.microsoft.com/office/drawing/2014/main" id="{E63F134E-4D82-43C7-804E-1D5B18DDA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84200"/>
            <a:ext cx="22860000" cy="12547600"/>
          </a:xfrm>
          <a:prstGeom prst="rect">
            <a:avLst/>
          </a:prstGeom>
          <a:effectLst>
            <a:outerShdw blurRad="1117600" dist="171938" dir="2700000">
              <a:srgbClr val="D6D6D6">
                <a:alpha val="20000"/>
              </a:srgbClr>
            </a:outerShdw>
          </a:effectLst>
        </p:spPr>
      </p:pic>
      <p:sp>
        <p:nvSpPr>
          <p:cNvPr id="14" name="TextBox 17">
            <a:extLst>
              <a:ext uri="{FF2B5EF4-FFF2-40B4-BE49-F238E27FC236}">
                <a16:creationId xmlns:a16="http://schemas.microsoft.com/office/drawing/2014/main" id="{A61C91E9-2A06-4604-AD2B-1A60ED30C219}"/>
              </a:ext>
            </a:extLst>
          </p:cNvPr>
          <p:cNvSpPr txBox="1"/>
          <p:nvPr/>
        </p:nvSpPr>
        <p:spPr>
          <a:xfrm>
            <a:off x="1739899" y="1217164"/>
            <a:ext cx="18601001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600" b="0" i="0" u="none" strike="noStrike" spc="-200" dirty="0">
                <a:solidFill>
                  <a:srgbClr val="001D67"/>
                </a:solidFill>
                <a:latin typeface="Pretendard Bold"/>
                <a:ea typeface="Pretendard Bold"/>
                <a:cs typeface="Pretendard Bold"/>
              </a:rPr>
              <a:t>| Q&amp;A</a:t>
            </a: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8745200" y="-1649413"/>
            <a:ext cx="7797800" cy="824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-2463800" y="9042400"/>
            <a:ext cx="7797800" cy="8242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300" y="990600"/>
            <a:ext cx="469900" cy="330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0A5A84-E134-4DD2-B289-AF04AE54F29E}"/>
              </a:ext>
            </a:extLst>
          </p:cNvPr>
          <p:cNvSpPr txBox="1"/>
          <p:nvPr/>
        </p:nvSpPr>
        <p:spPr>
          <a:xfrm>
            <a:off x="2778080" y="6019800"/>
            <a:ext cx="18827839" cy="2613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2000"/>
              </a:spcAft>
            </a:pPr>
            <a:r>
              <a:rPr lang="ko-KR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혼자여도, 혼자가 아닌 방송</a:t>
            </a:r>
            <a:endParaRPr lang="en-US" altLang="ko-KR" sz="6600" b="1" dirty="0">
              <a:solidFill>
                <a:schemeClr val="tx1">
                  <a:lumMod val="75000"/>
                  <a:lumOff val="25000"/>
                </a:schemeClr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endParaRPr lang="en-US" altLang="ko-KR" sz="6600" b="1" dirty="0">
              <a:solidFill>
                <a:schemeClr val="tx1">
                  <a:lumMod val="75000"/>
                  <a:lumOff val="25000"/>
                </a:schemeClr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1AB594E-FBD7-DCDF-435E-E4C84EC7FE2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1671" b="33623"/>
          <a:stretch>
            <a:fillRect/>
          </a:stretch>
        </p:blipFill>
        <p:spPr>
          <a:xfrm>
            <a:off x="8594949" y="6995655"/>
            <a:ext cx="7025692" cy="2438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D8532C-19E9-422C-8E68-B59916F66C69}"/>
              </a:ext>
            </a:extLst>
          </p:cNvPr>
          <p:cNvSpPr txBox="1"/>
          <p:nvPr/>
        </p:nvSpPr>
        <p:spPr>
          <a:xfrm>
            <a:off x="0" y="13233400"/>
            <a:ext cx="2438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SSAFY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광주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반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C204 </a:t>
            </a:r>
            <a:r>
              <a:rPr lang="ko-KR" altLang="en-US" sz="2000" b="0" i="0" u="none" strike="noStrike" dirty="0">
                <a:latin typeface="Pretendard Medium"/>
                <a:ea typeface="Pretendard Medium"/>
                <a:cs typeface="Pretendard Medium"/>
              </a:rPr>
              <a:t>공통 프로젝트 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– </a:t>
            </a:r>
            <a:r>
              <a:rPr lang="en-US" altLang="ko-KR" sz="2000" dirty="0">
                <a:latin typeface="Pretendard Medium"/>
                <a:ea typeface="Pretendard Medium"/>
                <a:cs typeface="Pretendard Medium"/>
              </a:rPr>
              <a:t>45</a:t>
            </a:r>
            <a:r>
              <a:rPr lang="en-US" altLang="ko-KR" sz="2000" b="0" i="0" u="none" strike="noStrike" dirty="0">
                <a:latin typeface="Pretendard Medium"/>
                <a:ea typeface="Pretendard Medium"/>
                <a:cs typeface="Pretendard Medium"/>
              </a:rPr>
              <a:t> -  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80230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920</TotalTime>
  <Words>1430</Words>
  <Application>Microsoft Office PowerPoint</Application>
  <PresentationFormat>사용자 지정</PresentationFormat>
  <Paragraphs>245</Paragraphs>
  <Slides>45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4" baseType="lpstr">
      <vt:lpstr>Pretendard Medium</vt:lpstr>
      <vt:lpstr>Pretendard Regular</vt:lpstr>
      <vt:lpstr>Pretendard ExtraBold</vt:lpstr>
      <vt:lpstr>Pretendard Bold</vt:lpstr>
      <vt:lpstr>맑은 고딕</vt:lpstr>
      <vt:lpstr>Arial</vt:lpstr>
      <vt:lpstr>Pretendard SemiBold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SSAFY</dc:creator>
  <cp:lastModifiedBy>강재민</cp:lastModifiedBy>
  <cp:revision>78</cp:revision>
  <dcterms:created xsi:type="dcterms:W3CDTF">2006-08-16T00:00:00Z</dcterms:created>
  <dcterms:modified xsi:type="dcterms:W3CDTF">2026-07-23T10:06:31Z</dcterms:modified>
</cp:coreProperties>
</file>